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69324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keysight.com/us/en/home.html" TargetMode="External"/><Relationship Id="rId3" Type="http://schemas.openxmlformats.org/officeDocument/2006/relationships/hyperlink" Target="https://linkedin.com/in/gdgarg" TargetMode="External"/><Relationship Id="rId7" Type="http://schemas.openxmlformats.org/officeDocument/2006/relationships/hyperlink" Target="https://www.cisco.com/site/in/en/index.html" TargetMode="External"/><Relationship Id="rId12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nw18.com/portfolio" TargetMode="External"/><Relationship Id="rId11" Type="http://schemas.openxmlformats.org/officeDocument/2006/relationships/hyperlink" Target="https://www.linkedin.com/in/gdgarg/details/projects/" TargetMode="External"/><Relationship Id="rId5" Type="http://schemas.openxmlformats.org/officeDocument/2006/relationships/hyperlink" Target="https://www.timesgroup.com/" TargetMode="External"/><Relationship Id="rId10" Type="http://schemas.openxmlformats.org/officeDocument/2006/relationships/hyperlink" Target="https://www.linkedin.com/in/gdgarg/details/featured/" TargetMode="External"/><Relationship Id="rId4" Type="http://schemas.openxmlformats.org/officeDocument/2006/relationships/hyperlink" Target="mailto:gdgarg@gmail.com" TargetMode="External"/><Relationship Id="rId9" Type="http://schemas.openxmlformats.org/officeDocument/2006/relationships/hyperlink" Target="https://www.civica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99568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GAGAN DEEP GARG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365760" y="483616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spc="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&amp; INTEGRATED MARKETING LEADER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739648"/>
            <a:ext cx="6949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Growth &amp; Revenue  |  Solving Business Problems</a:t>
            </a:r>
            <a:endParaRPr lang="en-US" sz="1050" b="1" dirty="0"/>
          </a:p>
        </p:txBody>
      </p:sp>
      <p:sp>
        <p:nvSpPr>
          <p:cNvPr id="5" name="Text 3"/>
          <p:cNvSpPr/>
          <p:nvPr/>
        </p:nvSpPr>
        <p:spPr>
          <a:xfrm>
            <a:off x="6949440" y="117856"/>
            <a:ext cx="48764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https://www.linkedin.com/in/gdgarg</a:t>
            </a:r>
            <a:r>
              <a:rPr lang="en-US" sz="1000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6949440" y="319024"/>
            <a:ext cx="48764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+91 9871121860  |  </a:t>
            </a:r>
            <a:r>
              <a:rPr lang="en-US" sz="1000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gdgarg@gmail.com</a:t>
            </a:r>
            <a:r>
              <a:rPr lang="en-US" sz="1000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6949440" y="538480"/>
            <a:ext cx="48764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TO RELOCATION  |  OPEN TO REMOTE OPPORTUNITIES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65760" y="1032256"/>
            <a:ext cx="11460175" cy="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130808"/>
            <a:ext cx="2762174" cy="347472"/>
          </a:xfrm>
          <a:prstGeom prst="roundRect">
            <a:avLst>
              <a:gd name="adj" fmla="val 15789"/>
            </a:avLst>
          </a:prstGeom>
          <a:solidFill>
            <a:srgbClr val="1F3864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1130808"/>
            <a:ext cx="276217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 YEARS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65094" y="1130808"/>
            <a:ext cx="2762174" cy="347472"/>
          </a:xfrm>
          <a:prstGeom prst="roundRect">
            <a:avLst>
              <a:gd name="adj" fmla="val 15789"/>
            </a:avLst>
          </a:prstGeom>
          <a:solidFill>
            <a:srgbClr val="1F3864"/>
          </a:solidFill>
          <a:ln/>
        </p:spPr>
      </p:sp>
      <p:sp>
        <p:nvSpPr>
          <p:cNvPr id="12" name="Text 10"/>
          <p:cNvSpPr/>
          <p:nvPr/>
        </p:nvSpPr>
        <p:spPr>
          <a:xfrm>
            <a:off x="3265094" y="1130808"/>
            <a:ext cx="276217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IN" sz="1200" b="1" dirty="0">
                <a:solidFill>
                  <a:schemeClr val="bg1"/>
                </a:solidFill>
              </a:rPr>
              <a:t>$4M+ BUDGET</a:t>
            </a:r>
            <a:endParaRPr lang="en-US" sz="1150" b="1" dirty="0">
              <a:solidFill>
                <a:schemeClr val="bg1"/>
              </a:solidFill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164428" y="1130808"/>
            <a:ext cx="2762174" cy="347472"/>
          </a:xfrm>
          <a:prstGeom prst="roundRect">
            <a:avLst>
              <a:gd name="adj" fmla="val 15789"/>
            </a:avLst>
          </a:prstGeom>
          <a:solidFill>
            <a:srgbClr val="1F3864"/>
          </a:solidFill>
          <a:ln/>
        </p:spPr>
      </p:sp>
      <p:sp>
        <p:nvSpPr>
          <p:cNvPr id="14" name="Text 12"/>
          <p:cNvSpPr/>
          <p:nvPr/>
        </p:nvSpPr>
        <p:spPr>
          <a:xfrm>
            <a:off x="6164428" y="1130808"/>
            <a:ext cx="276217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IN" sz="1200" b="1" dirty="0">
                <a:solidFill>
                  <a:schemeClr val="bg1"/>
                </a:solidFill>
              </a:rPr>
              <a:t>400+ ENTERPRISE OPPS</a:t>
            </a:r>
            <a:endParaRPr lang="en-US" sz="1150" b="1" dirty="0">
              <a:solidFill>
                <a:schemeClr val="bg1"/>
              </a:solidFill>
            </a:endParaRPr>
          </a:p>
        </p:txBody>
      </p:sp>
      <p:sp>
        <p:nvSpPr>
          <p:cNvPr id="15" name="Shape 13"/>
          <p:cNvSpPr/>
          <p:nvPr/>
        </p:nvSpPr>
        <p:spPr>
          <a:xfrm>
            <a:off x="9063761" y="1130808"/>
            <a:ext cx="2762174" cy="347472"/>
          </a:xfrm>
          <a:prstGeom prst="roundRect">
            <a:avLst>
              <a:gd name="adj" fmla="val 15789"/>
            </a:avLst>
          </a:prstGeom>
          <a:solidFill>
            <a:srgbClr val="1F3864"/>
          </a:solidFill>
          <a:ln/>
        </p:spPr>
      </p:sp>
      <p:sp>
        <p:nvSpPr>
          <p:cNvPr id="16" name="Text 14"/>
          <p:cNvSpPr/>
          <p:nvPr/>
        </p:nvSpPr>
        <p:spPr>
          <a:xfrm>
            <a:off x="9063761" y="1130808"/>
            <a:ext cx="276217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15X ROMI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65760" y="159715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5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EVOLUTION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65760" y="1834896"/>
            <a:ext cx="11460175" cy="0"/>
          </a:xfrm>
          <a:prstGeom prst="line">
            <a:avLst/>
          </a:prstGeom>
          <a:noFill/>
          <a:ln w="12700">
            <a:solidFill>
              <a:srgbClr val="D4DCE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460571" y="3043936"/>
            <a:ext cx="9270553" cy="0"/>
          </a:xfrm>
          <a:prstGeom prst="line">
            <a:avLst/>
          </a:prstGeom>
          <a:noFill/>
          <a:ln w="15875">
            <a:solidFill>
              <a:srgbClr val="D4DCE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405707" y="2989072"/>
            <a:ext cx="109728" cy="109728"/>
          </a:xfrm>
          <a:prstGeom prst="ellipse">
            <a:avLst/>
          </a:prstGeom>
          <a:solidFill>
            <a:srgbClr val="1F386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59" y="1934464"/>
            <a:ext cx="218962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TIMES OF INDIA</a:t>
            </a:r>
            <a:endParaRPr lang="en-US" sz="10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2" name="Text 20"/>
          <p:cNvSpPr/>
          <p:nvPr/>
        </p:nvSpPr>
        <p:spPr>
          <a:xfrm>
            <a:off x="365760" y="2288032"/>
            <a:ext cx="218962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3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Marketing &amp; Advertisements (2003–2008)</a:t>
            </a:r>
            <a:endParaRPr lang="en-US" sz="830" dirty="0"/>
          </a:p>
        </p:txBody>
      </p:sp>
      <p:sp>
        <p:nvSpPr>
          <p:cNvPr id="23" name="Text 21"/>
          <p:cNvSpPr/>
          <p:nvPr/>
        </p:nvSpPr>
        <p:spPr>
          <a:xfrm>
            <a:off x="365760" y="2635504"/>
            <a:ext cx="218962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3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foundation in media, advertising, and client solutions</a:t>
            </a:r>
            <a:endParaRPr lang="en-US" sz="830" dirty="0"/>
          </a:p>
        </p:txBody>
      </p:sp>
      <p:sp>
        <p:nvSpPr>
          <p:cNvPr id="24" name="Shape 22"/>
          <p:cNvSpPr/>
          <p:nvPr/>
        </p:nvSpPr>
        <p:spPr>
          <a:xfrm>
            <a:off x="3723345" y="2989072"/>
            <a:ext cx="109728" cy="109728"/>
          </a:xfrm>
          <a:prstGeom prst="ellipse">
            <a:avLst/>
          </a:prstGeom>
          <a:solidFill>
            <a:srgbClr val="1F386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683398" y="1958848"/>
            <a:ext cx="218962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NETWORK18 MEDIA</a:t>
            </a:r>
            <a:endParaRPr lang="en-US" sz="10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6" name="Text 24"/>
          <p:cNvSpPr/>
          <p:nvPr/>
        </p:nvSpPr>
        <p:spPr>
          <a:xfrm>
            <a:off x="2683398" y="2288032"/>
            <a:ext cx="218962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3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Marketing (2009–2011)</a:t>
            </a:r>
            <a:endParaRPr lang="en-US" sz="830" dirty="0"/>
          </a:p>
        </p:txBody>
      </p:sp>
      <p:sp>
        <p:nvSpPr>
          <p:cNvPr id="27" name="Text 25"/>
          <p:cNvSpPr/>
          <p:nvPr/>
        </p:nvSpPr>
        <p:spPr>
          <a:xfrm>
            <a:off x="2683398" y="2635504"/>
            <a:ext cx="218962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3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integrated campaigns across digital acquisition and brand marketing</a:t>
            </a:r>
            <a:endParaRPr lang="en-US" sz="830" dirty="0"/>
          </a:p>
        </p:txBody>
      </p:sp>
      <p:sp>
        <p:nvSpPr>
          <p:cNvPr id="28" name="Shape 26"/>
          <p:cNvSpPr/>
          <p:nvPr/>
        </p:nvSpPr>
        <p:spPr>
          <a:xfrm>
            <a:off x="6040984" y="2989072"/>
            <a:ext cx="109728" cy="109728"/>
          </a:xfrm>
          <a:prstGeom prst="ellipse">
            <a:avLst/>
          </a:prstGeom>
          <a:solidFill>
            <a:srgbClr val="1F386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01036" y="1958848"/>
            <a:ext cx="218962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CISCO SYSTEMS</a:t>
            </a:r>
            <a:endParaRPr lang="en-US" sz="10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0" name="Text 28"/>
          <p:cNvSpPr/>
          <p:nvPr/>
        </p:nvSpPr>
        <p:spPr>
          <a:xfrm>
            <a:off x="5001036" y="2288032"/>
            <a:ext cx="218962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3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Digital Marketing (APJC) (2011–2024)</a:t>
            </a:r>
            <a:endParaRPr lang="en-US" sz="830" dirty="0"/>
          </a:p>
        </p:txBody>
      </p:sp>
      <p:sp>
        <p:nvSpPr>
          <p:cNvPr id="31" name="Text 29"/>
          <p:cNvSpPr/>
          <p:nvPr/>
        </p:nvSpPr>
        <p:spPr>
          <a:xfrm>
            <a:off x="5001036" y="2635504"/>
            <a:ext cx="218962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3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Scaled enterprise digital marketing, paid media, and demand generation across APJC</a:t>
            </a:r>
            <a:endParaRPr lang="en-US" sz="830" dirty="0"/>
          </a:p>
        </p:txBody>
      </p:sp>
      <p:sp>
        <p:nvSpPr>
          <p:cNvPr id="32" name="Shape 30"/>
          <p:cNvSpPr/>
          <p:nvPr/>
        </p:nvSpPr>
        <p:spPr>
          <a:xfrm>
            <a:off x="8358622" y="2989072"/>
            <a:ext cx="109728" cy="109728"/>
          </a:xfrm>
          <a:prstGeom prst="ellipse">
            <a:avLst/>
          </a:prstGeom>
          <a:solidFill>
            <a:srgbClr val="1F386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18675" y="1958848"/>
            <a:ext cx="218962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KEYSIGHT TECHNOLOGY</a:t>
            </a:r>
            <a:endParaRPr lang="en-US" sz="10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4" name="Text 32"/>
          <p:cNvSpPr/>
          <p:nvPr/>
        </p:nvSpPr>
        <p:spPr>
          <a:xfrm>
            <a:off x="7318675" y="2288032"/>
            <a:ext cx="218962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3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Digital Marketing (Americas, Europe &amp; APJC) (2024–2026)</a:t>
            </a:r>
            <a:endParaRPr lang="en-US" sz="830" dirty="0"/>
          </a:p>
        </p:txBody>
      </p:sp>
      <p:sp>
        <p:nvSpPr>
          <p:cNvPr id="35" name="Text 33"/>
          <p:cNvSpPr/>
          <p:nvPr/>
        </p:nvSpPr>
        <p:spPr>
          <a:xfrm>
            <a:off x="7318675" y="2635504"/>
            <a:ext cx="218962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3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global digital marketing strategy across three regions</a:t>
            </a:r>
            <a:endParaRPr lang="en-US" sz="830" dirty="0"/>
          </a:p>
        </p:txBody>
      </p:sp>
      <p:sp>
        <p:nvSpPr>
          <p:cNvPr id="36" name="Shape 34"/>
          <p:cNvSpPr/>
          <p:nvPr/>
        </p:nvSpPr>
        <p:spPr>
          <a:xfrm>
            <a:off x="10676260" y="2989072"/>
            <a:ext cx="109728" cy="109728"/>
          </a:xfrm>
          <a:prstGeom prst="ellipse">
            <a:avLst/>
          </a:prstGeom>
          <a:solidFill>
            <a:srgbClr val="1F386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636313" y="1958848"/>
            <a:ext cx="218962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CIVICA UK</a:t>
            </a:r>
            <a:endParaRPr lang="en-US" sz="10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8" name="Text 36"/>
          <p:cNvSpPr/>
          <p:nvPr/>
        </p:nvSpPr>
        <p:spPr>
          <a:xfrm>
            <a:off x="9636313" y="2288032"/>
            <a:ext cx="218962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3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Digital Marketing &amp; Marketing Automation Lead (2026–Present)</a:t>
            </a:r>
            <a:endParaRPr lang="en-US" sz="830" dirty="0"/>
          </a:p>
        </p:txBody>
      </p:sp>
      <p:sp>
        <p:nvSpPr>
          <p:cNvPr id="39" name="Text 37"/>
          <p:cNvSpPr/>
          <p:nvPr/>
        </p:nvSpPr>
        <p:spPr>
          <a:xfrm>
            <a:off x="9636313" y="2635504"/>
            <a:ext cx="218962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3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ABM and marketing automation across North America and APAC</a:t>
            </a:r>
            <a:endParaRPr lang="en-US" sz="830" dirty="0"/>
          </a:p>
        </p:txBody>
      </p:sp>
      <p:sp>
        <p:nvSpPr>
          <p:cNvPr id="40" name="Text 38"/>
          <p:cNvSpPr/>
          <p:nvPr/>
        </p:nvSpPr>
        <p:spPr>
          <a:xfrm>
            <a:off x="365760" y="3206496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SNAPSHOT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365760" y="3499104"/>
            <a:ext cx="73152" cy="73152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42" name="Text 40"/>
          <p:cNvSpPr/>
          <p:nvPr/>
        </p:nvSpPr>
        <p:spPr>
          <a:xfrm>
            <a:off x="530352" y="3462528"/>
            <a:ext cx="2304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SaaS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365760" y="3727704"/>
            <a:ext cx="73152" cy="73152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44" name="Text 42"/>
          <p:cNvSpPr/>
          <p:nvPr/>
        </p:nvSpPr>
        <p:spPr>
          <a:xfrm>
            <a:off x="530352" y="3691128"/>
            <a:ext cx="2304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Strategy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365760" y="3956304"/>
            <a:ext cx="73152" cy="73152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46" name="Text 44"/>
          <p:cNvSpPr/>
          <p:nvPr/>
        </p:nvSpPr>
        <p:spPr>
          <a:xfrm>
            <a:off x="530352" y="3919728"/>
            <a:ext cx="2304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Generation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365760" y="4184904"/>
            <a:ext cx="73152" cy="73152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48" name="Text 46"/>
          <p:cNvSpPr/>
          <p:nvPr/>
        </p:nvSpPr>
        <p:spPr>
          <a:xfrm>
            <a:off x="530352" y="4148328"/>
            <a:ext cx="2304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Marketing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365760" y="4486656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FOCUS AREAS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365760" y="4779264"/>
            <a:ext cx="73152" cy="73152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51" name="Text 49"/>
          <p:cNvSpPr/>
          <p:nvPr/>
        </p:nvSpPr>
        <p:spPr>
          <a:xfrm>
            <a:off x="530352" y="4742688"/>
            <a:ext cx="2304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&amp; Integrated Marketing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365760" y="5007864"/>
            <a:ext cx="73152" cy="73152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53" name="Text 51"/>
          <p:cNvSpPr/>
          <p:nvPr/>
        </p:nvSpPr>
        <p:spPr>
          <a:xfrm>
            <a:off x="530352" y="4971288"/>
            <a:ext cx="2304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&amp; Revenue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365760" y="5236464"/>
            <a:ext cx="73152" cy="73152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55" name="Text 53"/>
          <p:cNvSpPr/>
          <p:nvPr/>
        </p:nvSpPr>
        <p:spPr>
          <a:xfrm>
            <a:off x="530352" y="5199888"/>
            <a:ext cx="2304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Acquisition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365760" y="5465064"/>
            <a:ext cx="73152" cy="73152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57" name="Text 55"/>
          <p:cNvSpPr/>
          <p:nvPr/>
        </p:nvSpPr>
        <p:spPr>
          <a:xfrm>
            <a:off x="530352" y="5428488"/>
            <a:ext cx="2304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GTM Strategy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3090672" y="3206496"/>
            <a:ext cx="4526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3090672" y="3480816"/>
            <a:ext cx="2189988" cy="1014984"/>
          </a:xfrm>
          <a:prstGeom prst="roundRect">
            <a:avLst>
              <a:gd name="adj" fmla="val 4505"/>
            </a:avLst>
          </a:prstGeom>
          <a:solidFill>
            <a:srgbClr val="F2F5FA"/>
          </a:solidFill>
          <a:ln w="9525">
            <a:solidFill>
              <a:srgbClr val="D4DCE9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218688" y="3572256"/>
            <a:ext cx="19339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5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3218688" y="3791712"/>
            <a:ext cx="1933956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2000"/>
              </a:lnSpc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 Qualified Pipeline Growth</a:t>
            </a:r>
            <a:endParaRPr lang="en-US" sz="900" dirty="0"/>
          </a:p>
          <a:p>
            <a:pPr marL="152400" indent="-152400">
              <a:lnSpc>
                <a:spcPct val="112000"/>
              </a:lnSpc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 Qualified Conversions</a:t>
            </a:r>
            <a:endParaRPr lang="en-US" sz="900" dirty="0"/>
          </a:p>
          <a:p>
            <a:pPr marL="152400" indent="-152400">
              <a:lnSpc>
                <a:spcPct val="112000"/>
              </a:lnSpc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400+ Enterprise Opportunities</a:t>
            </a:r>
            <a:endParaRPr lang="en-US" sz="900" dirty="0"/>
          </a:p>
          <a:p>
            <a:pPr marL="152400" indent="-152400">
              <a:lnSpc>
                <a:spcPct val="112000"/>
              </a:lnSpc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 Target Account Penetration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5426964" y="3480816"/>
            <a:ext cx="2189988" cy="1014984"/>
          </a:xfrm>
          <a:prstGeom prst="roundRect">
            <a:avLst>
              <a:gd name="adj" fmla="val 4505"/>
            </a:avLst>
          </a:prstGeom>
          <a:solidFill>
            <a:srgbClr val="F2F5FA"/>
          </a:solidFill>
          <a:ln w="9525">
            <a:solidFill>
              <a:srgbClr val="D4DCE9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554980" y="3572256"/>
            <a:ext cx="19339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5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5554980" y="3791712"/>
            <a:ext cx="1933956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2000"/>
              </a:lnSpc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17% Lower CPA</a:t>
            </a:r>
            <a:endParaRPr lang="en-US" sz="900" dirty="0"/>
          </a:p>
          <a:p>
            <a:pPr marL="152400" indent="-152400">
              <a:lnSpc>
                <a:spcPct val="112000"/>
              </a:lnSpc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Higher Pipeline Conversion</a:t>
            </a:r>
            <a:endParaRPr lang="en-US" sz="900" dirty="0"/>
          </a:p>
          <a:p>
            <a:pPr marL="152400" indent="-152400">
              <a:lnSpc>
                <a:spcPct val="112000"/>
              </a:lnSpc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15x ROMI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3090672" y="4642104"/>
            <a:ext cx="2189988" cy="1014984"/>
          </a:xfrm>
          <a:prstGeom prst="roundRect">
            <a:avLst>
              <a:gd name="adj" fmla="val 4505"/>
            </a:avLst>
          </a:prstGeom>
          <a:solidFill>
            <a:srgbClr val="F2F5FA"/>
          </a:solidFill>
          <a:ln w="9525">
            <a:solidFill>
              <a:srgbClr val="D4DCE9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218688" y="4733544"/>
            <a:ext cx="19339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5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3218688" y="4953000"/>
            <a:ext cx="1933956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2000"/>
              </a:lnSpc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$4M+ Budget Management</a:t>
            </a:r>
            <a:endParaRPr lang="en-US" sz="900" dirty="0"/>
          </a:p>
          <a:p>
            <a:pPr marL="152400" indent="-152400">
              <a:lnSpc>
                <a:spcPct val="112000"/>
              </a:lnSpc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5-Person Team</a:t>
            </a:r>
            <a:endParaRPr lang="en-US" sz="900" dirty="0"/>
          </a:p>
          <a:p>
            <a:pPr marL="152400" indent="-152400">
              <a:lnSpc>
                <a:spcPct val="112000"/>
              </a:lnSpc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Agency Management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5426964" y="4642104"/>
            <a:ext cx="2189988" cy="1014984"/>
          </a:xfrm>
          <a:prstGeom prst="roundRect">
            <a:avLst>
              <a:gd name="adj" fmla="val 4505"/>
            </a:avLst>
          </a:prstGeom>
          <a:solidFill>
            <a:srgbClr val="F2F5FA"/>
          </a:solidFill>
          <a:ln w="9525">
            <a:solidFill>
              <a:srgbClr val="D4DCE9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554980" y="4733544"/>
            <a:ext cx="19339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5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950" dirty="0"/>
          </a:p>
        </p:txBody>
      </p:sp>
      <p:sp>
        <p:nvSpPr>
          <p:cNvPr id="70" name="Text 68"/>
          <p:cNvSpPr/>
          <p:nvPr/>
        </p:nvSpPr>
        <p:spPr>
          <a:xfrm>
            <a:off x="5554980" y="4953000"/>
            <a:ext cx="1933956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2000"/>
              </a:lnSpc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Program Execution</a:t>
            </a:r>
            <a:endParaRPr lang="en-US" sz="900" dirty="0"/>
          </a:p>
          <a:p>
            <a:pPr marL="152400" indent="-152400">
              <a:lnSpc>
                <a:spcPct val="112000"/>
              </a:lnSpc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14+ APJC Markets</a:t>
            </a:r>
            <a:endParaRPr lang="en-US" sz="900" dirty="0"/>
          </a:p>
          <a:p>
            <a:pPr marL="152400" indent="-152400">
              <a:lnSpc>
                <a:spcPct val="112000"/>
              </a:lnSpc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Americas, EMEA, APJC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8655305" y="3206496"/>
            <a:ext cx="308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 INITIATIVES</a:t>
            </a:r>
            <a:endParaRPr lang="en-US" sz="1050" dirty="0"/>
          </a:p>
        </p:txBody>
      </p:sp>
      <p:sp>
        <p:nvSpPr>
          <p:cNvPr id="72" name="Shape 70"/>
          <p:cNvSpPr/>
          <p:nvPr/>
        </p:nvSpPr>
        <p:spPr>
          <a:xfrm>
            <a:off x="8655305" y="3480816"/>
            <a:ext cx="3089656" cy="1005840"/>
          </a:xfrm>
          <a:prstGeom prst="roundRect">
            <a:avLst>
              <a:gd name="adj" fmla="val 7143"/>
            </a:avLst>
          </a:prstGeom>
          <a:solidFill>
            <a:srgbClr val="F2F5FA"/>
          </a:solidFill>
          <a:ln w="9525">
            <a:solidFill>
              <a:srgbClr val="D4DCE9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8722360" y="3744976"/>
            <a:ext cx="382041" cy="40640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74" name="Text 72"/>
          <p:cNvSpPr/>
          <p:nvPr/>
        </p:nvSpPr>
        <p:spPr>
          <a:xfrm>
            <a:off x="8793480" y="3686047"/>
            <a:ext cx="242999" cy="488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5" name="Text 73"/>
          <p:cNvSpPr/>
          <p:nvPr/>
        </p:nvSpPr>
        <p:spPr>
          <a:xfrm>
            <a:off x="9222232" y="3675887"/>
            <a:ext cx="2560777" cy="3448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Global Demand Engine Optimization</a:t>
            </a:r>
            <a:endParaRPr lang="en-US" sz="10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76" name="Text 74"/>
          <p:cNvSpPr/>
          <p:nvPr/>
        </p:nvSpPr>
        <p:spPr>
          <a:xfrm>
            <a:off x="9222232" y="3913632"/>
            <a:ext cx="256077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4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pipeline quality and efficiency, driving 25% pipeline growth.</a:t>
            </a:r>
            <a:endParaRPr lang="en-US" sz="840" dirty="0"/>
          </a:p>
        </p:txBody>
      </p:sp>
      <p:sp>
        <p:nvSpPr>
          <p:cNvPr id="82" name="Shape 80"/>
          <p:cNvSpPr/>
          <p:nvPr/>
        </p:nvSpPr>
        <p:spPr>
          <a:xfrm>
            <a:off x="8655305" y="4642104"/>
            <a:ext cx="3089656" cy="1014984"/>
          </a:xfrm>
          <a:prstGeom prst="roundRect">
            <a:avLst>
              <a:gd name="adj" fmla="val 7143"/>
            </a:avLst>
          </a:prstGeom>
          <a:solidFill>
            <a:srgbClr val="F2F5FA"/>
          </a:solidFill>
          <a:ln w="9525">
            <a:solidFill>
              <a:srgbClr val="D4DCE9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9222232" y="4839701"/>
            <a:ext cx="2560777" cy="3479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AI Lead Qualification Engine</a:t>
            </a:r>
            <a:endParaRPr lang="en-US" sz="10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86" name="Text 84"/>
          <p:cNvSpPr/>
          <p:nvPr/>
        </p:nvSpPr>
        <p:spPr>
          <a:xfrm>
            <a:off x="9222233" y="5056022"/>
            <a:ext cx="2439416" cy="345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4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lead prioritization using AI-driven insights, saving 30+ hours per week.</a:t>
            </a:r>
            <a:endParaRPr lang="en-US" sz="840" dirty="0"/>
          </a:p>
        </p:txBody>
      </p:sp>
      <p:sp>
        <p:nvSpPr>
          <p:cNvPr id="87" name="Shape 85"/>
          <p:cNvSpPr/>
          <p:nvPr/>
        </p:nvSpPr>
        <p:spPr>
          <a:xfrm>
            <a:off x="365760" y="5775960"/>
            <a:ext cx="11460175" cy="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365760" y="58674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COMPETENCIES</a:t>
            </a:r>
            <a:endParaRPr lang="en-US" sz="1000" dirty="0"/>
          </a:p>
        </p:txBody>
      </p:sp>
      <p:sp>
        <p:nvSpPr>
          <p:cNvPr id="89" name="Text 87"/>
          <p:cNvSpPr/>
          <p:nvPr/>
        </p:nvSpPr>
        <p:spPr>
          <a:xfrm>
            <a:off x="365760" y="6086856"/>
            <a:ext cx="6858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850" dirty="0"/>
          </a:p>
        </p:txBody>
      </p:sp>
      <p:sp>
        <p:nvSpPr>
          <p:cNvPr id="90" name="Text 88"/>
          <p:cNvSpPr/>
          <p:nvPr/>
        </p:nvSpPr>
        <p:spPr>
          <a:xfrm>
            <a:off x="1078992" y="6086856"/>
            <a:ext cx="38587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Acquisition, Demand Generation, Conversion Optimization</a:t>
            </a:r>
            <a:endParaRPr lang="en-US" sz="850" dirty="0"/>
          </a:p>
        </p:txBody>
      </p:sp>
      <p:sp>
        <p:nvSpPr>
          <p:cNvPr id="91" name="Text 89"/>
          <p:cNvSpPr/>
          <p:nvPr/>
        </p:nvSpPr>
        <p:spPr>
          <a:xfrm>
            <a:off x="365760" y="6269736"/>
            <a:ext cx="6858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</a:t>
            </a:r>
            <a:endParaRPr lang="en-US" sz="850" dirty="0"/>
          </a:p>
        </p:txBody>
      </p:sp>
      <p:sp>
        <p:nvSpPr>
          <p:cNvPr id="92" name="Text 90"/>
          <p:cNvSpPr/>
          <p:nvPr/>
        </p:nvSpPr>
        <p:spPr>
          <a:xfrm>
            <a:off x="1078992" y="6269736"/>
            <a:ext cx="38587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Marketing, Paid Media, Omnichannel Marketing</a:t>
            </a:r>
            <a:endParaRPr lang="en-US" sz="850" dirty="0"/>
          </a:p>
        </p:txBody>
      </p:sp>
      <p:sp>
        <p:nvSpPr>
          <p:cNvPr id="93" name="Text 91"/>
          <p:cNvSpPr/>
          <p:nvPr/>
        </p:nvSpPr>
        <p:spPr>
          <a:xfrm>
            <a:off x="365760" y="6452616"/>
            <a:ext cx="6858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</a:t>
            </a:r>
            <a:endParaRPr lang="en-US" sz="850" dirty="0"/>
          </a:p>
        </p:txBody>
      </p:sp>
      <p:sp>
        <p:nvSpPr>
          <p:cNvPr id="94" name="Text 92"/>
          <p:cNvSpPr/>
          <p:nvPr/>
        </p:nvSpPr>
        <p:spPr>
          <a:xfrm>
            <a:off x="1078992" y="6452616"/>
            <a:ext cx="38587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Automation, Marketing Analytics, AI Workflows</a:t>
            </a:r>
            <a:endParaRPr lang="en-US" sz="850" dirty="0"/>
          </a:p>
        </p:txBody>
      </p:sp>
      <p:sp>
        <p:nvSpPr>
          <p:cNvPr id="95" name="Text 93"/>
          <p:cNvSpPr/>
          <p:nvPr/>
        </p:nvSpPr>
        <p:spPr>
          <a:xfrm>
            <a:off x="5120640" y="5867400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EXPERTISE</a:t>
            </a:r>
            <a:endParaRPr lang="en-US" sz="1000" dirty="0"/>
          </a:p>
        </p:txBody>
      </p:sp>
      <p:sp>
        <p:nvSpPr>
          <p:cNvPr id="96" name="Text 94"/>
          <p:cNvSpPr/>
          <p:nvPr/>
        </p:nvSpPr>
        <p:spPr>
          <a:xfrm>
            <a:off x="5120640" y="6086856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SaaS  |  Cloud &amp; Data Center  |  </a:t>
            </a:r>
            <a:b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&amp; Networking  |  Cybersecurity  |  </a:t>
            </a:r>
            <a:b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Manufacturing</a:t>
            </a:r>
            <a:endParaRPr lang="en-US" sz="850" dirty="0"/>
          </a:p>
        </p:txBody>
      </p:sp>
      <p:sp>
        <p:nvSpPr>
          <p:cNvPr id="97" name="Text 95"/>
          <p:cNvSpPr/>
          <p:nvPr/>
        </p:nvSpPr>
        <p:spPr>
          <a:xfrm>
            <a:off x="8549640" y="5867400"/>
            <a:ext cx="32762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ROLES</a:t>
            </a:r>
            <a:endParaRPr lang="en-US" sz="1000" dirty="0"/>
          </a:p>
        </p:txBody>
      </p:sp>
      <p:sp>
        <p:nvSpPr>
          <p:cNvPr id="98" name="Text 96"/>
          <p:cNvSpPr/>
          <p:nvPr/>
        </p:nvSpPr>
        <p:spPr>
          <a:xfrm>
            <a:off x="8549640" y="6086856"/>
            <a:ext cx="32762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of Digital Marketing   |   Head of Marketing</a:t>
            </a:r>
            <a:endParaRPr lang="en-US" sz="850" b="1" dirty="0"/>
          </a:p>
        </p:txBody>
      </p:sp>
      <p:sp>
        <p:nvSpPr>
          <p:cNvPr id="99" name="Text 97"/>
          <p:cNvSpPr/>
          <p:nvPr/>
        </p:nvSpPr>
        <p:spPr>
          <a:xfrm>
            <a:off x="8549640" y="6269736"/>
            <a:ext cx="3276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of Demand Generation  |  Head of Performance Marketing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of Growth Marketing  |  Head of Paid Media</a:t>
            </a:r>
            <a:endParaRPr lang="en-US" sz="850" dirty="0"/>
          </a:p>
        </p:txBody>
      </p:sp>
      <p:pic>
        <p:nvPicPr>
          <p:cNvPr id="100" name="Picture 99">
            <a:extLst>
              <a:ext uri="{FF2B5EF4-FFF2-40B4-BE49-F238E27FC236}">
                <a16:creationId xmlns:a16="http://schemas.microsoft.com/office/drawing/2014/main" id="{7B1D57BB-5277-73A7-93A8-384BB1B99BE1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/>
          <a:stretch>
            <a:fillRect/>
          </a:stretch>
        </p:blipFill>
        <p:spPr>
          <a:xfrm>
            <a:off x="5778500" y="75057"/>
            <a:ext cx="933450" cy="933450"/>
          </a:xfrm>
          <a:prstGeom prst="ellipse">
            <a:avLst/>
          </a:prstGeom>
        </p:spPr>
      </p:pic>
      <p:sp>
        <p:nvSpPr>
          <p:cNvPr id="101" name="Shape 71">
            <a:extLst>
              <a:ext uri="{FF2B5EF4-FFF2-40B4-BE49-F238E27FC236}">
                <a16:creationId xmlns:a16="http://schemas.microsoft.com/office/drawing/2014/main" id="{4ECB76A3-EF0F-399B-EF0B-3E5D27AC71FA}"/>
              </a:ext>
            </a:extLst>
          </p:cNvPr>
          <p:cNvSpPr/>
          <p:nvPr/>
        </p:nvSpPr>
        <p:spPr>
          <a:xfrm>
            <a:off x="8722360" y="4913376"/>
            <a:ext cx="392201" cy="41656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D14546FE-E8C5-23B4-0CF4-1A71563FBCB7}"/>
              </a:ext>
            </a:extLst>
          </p:cNvPr>
          <p:cNvSpPr txBox="1"/>
          <p:nvPr/>
        </p:nvSpPr>
        <p:spPr>
          <a:xfrm>
            <a:off x="8778240" y="4986774"/>
            <a:ext cx="48869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IN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365</Words>
  <Application>Microsoft Office PowerPoint</Application>
  <PresentationFormat>Widescreen</PresentationFormat>
  <Paragraphs>75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Lenovo</cp:lastModifiedBy>
  <cp:revision>16</cp:revision>
  <dcterms:created xsi:type="dcterms:W3CDTF">2026-08-26T01:24:05Z</dcterms:created>
  <dcterms:modified xsi:type="dcterms:W3CDTF">2026-08-26T10:45:57Z</dcterms:modified>
</cp:coreProperties>
</file>