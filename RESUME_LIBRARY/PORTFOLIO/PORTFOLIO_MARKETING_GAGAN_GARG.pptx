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59" d="100"/>
          <a:sy n="59" d="100"/>
        </p:scale>
        <p:origin x="9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A34BE26-FEE1-44B5-80D5-6C1EDC9788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1A39A"/>
          </a:solidFill>
          <a:ln w="0">
            <a:noFill/>
            <a:prstDash val="solid"/>
          </a:ln>
        </p:spPr>
      </p:sp>
      <p:sp>
        <p:nvSpPr>
          <p:cNvPr id="2" name="name">
            <a:extLst>
              <a:ext uri="{FF2B5EF4-FFF2-40B4-BE49-F238E27FC236}">
                <a16:creationId xmlns:a16="http://schemas.microsoft.com/office/drawing/2014/main" id="{93CEA91F-CE9C-42D3-84A6-E5DB7AB1AFA0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19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13243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3243D"/>
                </a:solidFill>
                <a:latin typeface="Aptos"/>
                <a:ea typeface="Aptos"/>
                <a:cs typeface="Aptos"/>
              </a:rPr>
              <a:t>GAGAN DEEP GARG</a:t>
            </a:r>
          </a:p>
        </p:txBody>
      </p:sp>
      <p:sp>
        <p:nvSpPr>
          <p:cNvPr id="3" name="role">
            <a:extLst>
              <a:ext uri="{FF2B5EF4-FFF2-40B4-BE49-F238E27FC236}">
                <a16:creationId xmlns:a16="http://schemas.microsoft.com/office/drawing/2014/main" id="{6C17F0F6-8794-4194-B911-91D25612D674}"/>
              </a:ext>
            </a:extLst>
          </p:cNvPr>
          <p:cNvSpPr>
            <a:spLocks noGrp="1"/>
          </p:cNvSpPr>
          <p:nvPr/>
        </p:nvSpPr>
        <p:spPr>
          <a:xfrm>
            <a:off x="476250" y="647700"/>
            <a:ext cx="581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002"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1A39A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21A39A"/>
                </a:solidFill>
                <a:latin typeface="Aptos"/>
                <a:ea typeface="Aptos"/>
                <a:cs typeface="Aptos"/>
              </a:rPr>
              <a:t>MARKETING &amp; DIGITAL GROWTH LEADER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46B98D-D244-4911-9300-8B569170AFB3}"/>
              </a:ext>
            </a:extLst>
          </p:cNvPr>
          <p:cNvSpPr>
            <a:spLocks noGrp="1"/>
          </p:cNvSpPr>
          <p:nvPr/>
        </p:nvSpPr>
        <p:spPr>
          <a:xfrm>
            <a:off x="476250" y="89535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657487"/>
                </a:solidFill>
                <a:latin typeface="Aptos"/>
                <a:ea typeface="Aptos"/>
                <a:cs typeface="Aptos"/>
              </a:rPr>
              <a:t>Driving Growth  |  Solving Business Problems  |  Delivering Impact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53C512-A87C-4E31-9854-D9D4BDE45B3A}"/>
              </a:ext>
            </a:extLst>
          </p:cNvPr>
          <p:cNvSpPr>
            <a:spLocks noGrp="1"/>
          </p:cNvSpPr>
          <p:nvPr/>
        </p:nvSpPr>
        <p:spPr>
          <a:xfrm>
            <a:off x="7590066" y="389166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13243D"/>
                </a:solidFill>
                <a:latin typeface="Aptos"/>
                <a:ea typeface="Aptos"/>
                <a:cs typeface="Aptos"/>
              </a:defRPr>
            </a:pPr>
            <a:r>
              <a:rPr lang="en-IN" sz="1000" b="1" dirty="0">
                <a:solidFill>
                  <a:srgbClr val="13243D"/>
                </a:solidFill>
                <a:latin typeface="Aptos"/>
                <a:ea typeface="Aptos"/>
                <a:cs typeface="Aptos"/>
              </a:rPr>
              <a:t>https://</a:t>
            </a:r>
            <a:r>
              <a:rPr sz="1000" b="1" dirty="0">
                <a:solidFill>
                  <a:srgbClr val="13243D"/>
                </a:solidFill>
                <a:latin typeface="Aptos"/>
                <a:ea typeface="Aptos"/>
                <a:cs typeface="Aptos"/>
              </a:rPr>
              <a:t>linkedin.com/in/g</a:t>
            </a:r>
            <a:r>
              <a:rPr lang="en-IN" sz="1000" b="1" dirty="0" err="1">
                <a:solidFill>
                  <a:srgbClr val="13243D"/>
                </a:solidFill>
                <a:latin typeface="Aptos"/>
                <a:ea typeface="Aptos"/>
                <a:cs typeface="Aptos"/>
              </a:rPr>
              <a:t>dgarg</a:t>
            </a:r>
            <a:endParaRPr sz="1000" b="1" dirty="0">
              <a:solidFill>
                <a:srgbClr val="13243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C73F3D-30F4-49F6-9E7A-9639CF9C87DD}"/>
              </a:ext>
            </a:extLst>
          </p:cNvPr>
          <p:cNvSpPr>
            <a:spLocks noGrp="1"/>
          </p:cNvSpPr>
          <p:nvPr/>
        </p:nvSpPr>
        <p:spPr>
          <a:xfrm>
            <a:off x="7209066" y="608241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657487"/>
                </a:solidFill>
                <a:latin typeface="Aptos"/>
                <a:ea typeface="Aptos"/>
                <a:cs typeface="Aptos"/>
              </a:rPr>
              <a:t>+91 9871121860  |  gdgarg@gmail.com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A4D8C9-DE7C-495D-BF16-88BF9B8D43DE}"/>
              </a:ext>
            </a:extLst>
          </p:cNvPr>
          <p:cNvSpPr>
            <a:spLocks noGrp="1"/>
          </p:cNvSpPr>
          <p:nvPr/>
        </p:nvSpPr>
        <p:spPr>
          <a:xfrm>
            <a:off x="8885466" y="817791"/>
            <a:ext cx="1562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21A39A"/>
                </a:solidFill>
                <a:latin typeface="Aptos"/>
                <a:ea typeface="Aptos"/>
                <a:cs typeface="Aptos"/>
              </a:defRPr>
            </a:pPr>
            <a:r>
              <a:rPr sz="1000" b="1" dirty="0">
                <a:solidFill>
                  <a:srgbClr val="21A39A"/>
                </a:solidFill>
                <a:latin typeface="Aptos"/>
                <a:ea typeface="Aptos"/>
                <a:cs typeface="Aptos"/>
              </a:rPr>
              <a:t>OPEN T</a:t>
            </a:r>
            <a:r>
              <a:rPr lang="en-IN" sz="1000" b="1" dirty="0">
                <a:solidFill>
                  <a:srgbClr val="21A39A"/>
                </a:solidFill>
                <a:latin typeface="Aptos"/>
                <a:ea typeface="Aptos"/>
                <a:cs typeface="Aptos"/>
              </a:rPr>
              <a:t>O RELOCATION</a:t>
            </a:r>
            <a:endParaRPr sz="1000" b="1" dirty="0">
              <a:solidFill>
                <a:srgbClr val="21A39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53821C-37FD-400D-AB12-4963D14E05B1}"/>
              </a:ext>
            </a:extLst>
          </p:cNvPr>
          <p:cNvSpPr>
            <a:spLocks noGrp="1"/>
          </p:cNvSpPr>
          <p:nvPr/>
        </p:nvSpPr>
        <p:spPr>
          <a:xfrm>
            <a:off x="10648950" y="171450"/>
            <a:ext cx="1009650" cy="10096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A39A"/>
            </a:solidFill>
            <a:prstDash val="solid"/>
          </a:ln>
        </p:spPr>
      </p:sp>
      <p:pic>
        <p:nvPicPr>
          <p:cNvPr id="118" name="Picture 1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87050" y="209550"/>
            <a:ext cx="933450" cy="933450"/>
          </a:xfrm>
          <a:prstGeom prst="ellipse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8BA38D-3120-4066-87EB-7141F23E8DA9}"/>
              </a:ext>
            </a:extLst>
          </p:cNvPr>
          <p:cNvSpPr>
            <a:spLocks noGrp="1"/>
          </p:cNvSpPr>
          <p:nvPr/>
        </p:nvSpPr>
        <p:spPr>
          <a:xfrm>
            <a:off x="742950" y="1242564"/>
            <a:ext cx="11277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13243D"/>
                </a:solidFill>
                <a:latin typeface="Aptos"/>
                <a:ea typeface="Aptos"/>
                <a:cs typeface="Aptos"/>
              </a:defRPr>
            </a:pPr>
            <a:r>
              <a:rPr lang="en-IN" sz="1100" b="1" dirty="0">
                <a:solidFill>
                  <a:srgbClr val="13243D"/>
                </a:solidFill>
                <a:latin typeface="Aptos"/>
                <a:ea typeface="Aptos"/>
                <a:cs typeface="Aptos"/>
              </a:rPr>
              <a:t>15</a:t>
            </a:r>
            <a:r>
              <a:rPr sz="1100" b="1" dirty="0">
                <a:solidFill>
                  <a:srgbClr val="13243D"/>
                </a:solidFill>
                <a:latin typeface="Aptos"/>
                <a:ea typeface="Aptos"/>
                <a:cs typeface="Aptos"/>
              </a:rPr>
              <a:t>+ Years   |   $4M+ Budget </a:t>
            </a:r>
            <a:r>
              <a:rPr lang="en-IN" sz="1100" b="1" dirty="0">
                <a:solidFill>
                  <a:srgbClr val="13243D"/>
                </a:solidFill>
                <a:latin typeface="Aptos"/>
                <a:ea typeface="Aptos"/>
                <a:cs typeface="Aptos"/>
              </a:rPr>
              <a:t>  </a:t>
            </a:r>
            <a:r>
              <a:rPr sz="1100" b="1" dirty="0">
                <a:solidFill>
                  <a:srgbClr val="13243D"/>
                </a:solidFill>
                <a:latin typeface="Aptos"/>
                <a:ea typeface="Aptos"/>
                <a:cs typeface="Aptos"/>
              </a:rPr>
              <a:t>| </a:t>
            </a:r>
            <a:r>
              <a:rPr lang="en-IN" sz="1100" b="1" dirty="0">
                <a:solidFill>
                  <a:srgbClr val="13243D"/>
                </a:solidFill>
                <a:latin typeface="Aptos"/>
                <a:ea typeface="Aptos"/>
                <a:cs typeface="Aptos"/>
              </a:rPr>
              <a:t>400+ Enterprise Opportunities </a:t>
            </a:r>
            <a:r>
              <a:rPr sz="1100" b="1" dirty="0">
                <a:solidFill>
                  <a:srgbClr val="13243D"/>
                </a:solidFill>
                <a:latin typeface="Aptos"/>
                <a:ea typeface="Aptos"/>
                <a:cs typeface="Aptos"/>
              </a:rPr>
              <a:t>| </a:t>
            </a:r>
            <a:r>
              <a:rPr lang="en-IN" sz="1100" b="1" dirty="0">
                <a:solidFill>
                  <a:srgbClr val="13243D"/>
                </a:solidFill>
                <a:latin typeface="Aptos"/>
                <a:ea typeface="Aptos"/>
                <a:cs typeface="Aptos"/>
              </a:rPr>
              <a:t>15x ROMI</a:t>
            </a:r>
            <a:endParaRPr sz="1100" b="1" dirty="0">
              <a:solidFill>
                <a:srgbClr val="13243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17CF95-311D-463F-8AAF-CF42C749CD29}"/>
              </a:ext>
            </a:extLst>
          </p:cNvPr>
          <p:cNvSpPr>
            <a:spLocks noGrp="1"/>
          </p:cNvSpPr>
          <p:nvPr/>
        </p:nvSpPr>
        <p:spPr>
          <a:xfrm>
            <a:off x="457200" y="1434463"/>
            <a:ext cx="11277600" cy="9525"/>
          </a:xfrm>
          <a:prstGeom prst="rect">
            <a:avLst/>
          </a:prstGeom>
          <a:solidFill>
            <a:srgbClr val="D9E1EA"/>
          </a:solidFill>
          <a:ln w="0">
            <a:noFill/>
            <a:prstDash val="solid"/>
          </a:ln>
        </p:spPr>
      </p:sp>
      <p:sp>
        <p:nvSpPr>
          <p:cNvPr id="13" name="label-Career Evolution">
            <a:extLst>
              <a:ext uri="{FF2B5EF4-FFF2-40B4-BE49-F238E27FC236}">
                <a16:creationId xmlns:a16="http://schemas.microsoft.com/office/drawing/2014/main" id="{FA79081E-28B2-43F7-9F52-A2A137B5F7DB}"/>
              </a:ext>
            </a:extLst>
          </p:cNvPr>
          <p:cNvSpPr>
            <a:spLocks noGrp="1"/>
          </p:cNvSpPr>
          <p:nvPr/>
        </p:nvSpPr>
        <p:spPr>
          <a:xfrm>
            <a:off x="457200" y="1529713"/>
            <a:ext cx="11277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21A39A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21A39A"/>
                </a:solidFill>
                <a:latin typeface="Aptos"/>
                <a:ea typeface="Aptos"/>
                <a:cs typeface="Aptos"/>
              </a:rPr>
              <a:t>CAREER EVOLUTION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A8890F-F9B7-4EF0-A1E0-E4B21552403F}"/>
              </a:ext>
            </a:extLst>
          </p:cNvPr>
          <p:cNvSpPr>
            <a:spLocks noGrp="1"/>
          </p:cNvSpPr>
          <p:nvPr/>
        </p:nvSpPr>
        <p:spPr>
          <a:xfrm>
            <a:off x="457200" y="1739263"/>
            <a:ext cx="11277600" cy="9525"/>
          </a:xfrm>
          <a:prstGeom prst="rect">
            <a:avLst/>
          </a:prstGeom>
          <a:solidFill>
            <a:srgbClr val="D9E1EA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1327B5-60AA-4A5F-8D06-950CB3D39F61}"/>
              </a:ext>
            </a:extLst>
          </p:cNvPr>
          <p:cNvSpPr>
            <a:spLocks noGrp="1"/>
          </p:cNvSpPr>
          <p:nvPr/>
        </p:nvSpPr>
        <p:spPr>
          <a:xfrm>
            <a:off x="1219200" y="1882138"/>
            <a:ext cx="9563100" cy="19050"/>
          </a:xfrm>
          <a:prstGeom prst="rect">
            <a:avLst/>
          </a:prstGeom>
          <a:solidFill>
            <a:srgbClr val="21A39A"/>
          </a:solidFill>
          <a:ln w="0">
            <a:noFill/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9CD6886-94C4-4D43-AC2E-92954C369496}"/>
              </a:ext>
            </a:extLst>
          </p:cNvPr>
          <p:cNvSpPr>
            <a:spLocks noGrp="1"/>
          </p:cNvSpPr>
          <p:nvPr/>
        </p:nvSpPr>
        <p:spPr>
          <a:xfrm>
            <a:off x="1152525" y="1815463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1A39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E8D530-1A4A-446E-8C51-5FC1027A0003}"/>
              </a:ext>
            </a:extLst>
          </p:cNvPr>
          <p:cNvSpPr>
            <a:spLocks noGrp="1"/>
          </p:cNvSpPr>
          <p:nvPr/>
        </p:nvSpPr>
        <p:spPr>
          <a:xfrm>
            <a:off x="-19050" y="1986913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13243D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13243D"/>
                </a:solidFill>
                <a:latin typeface="Aptos"/>
                <a:ea typeface="Aptos"/>
                <a:cs typeface="Aptos"/>
              </a:rPr>
              <a:t>Times of India | Media Foundation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A2B3B7-43E2-482F-9766-5E03EA09A959}"/>
              </a:ext>
            </a:extLst>
          </p:cNvPr>
          <p:cNvSpPr>
            <a:spLocks noGrp="1"/>
          </p:cNvSpPr>
          <p:nvPr/>
        </p:nvSpPr>
        <p:spPr>
          <a:xfrm>
            <a:off x="323272" y="2196463"/>
            <a:ext cx="1855695" cy="3371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lang="en-US" sz="1000" dirty="0"/>
              <a:t>Built a foundation in media, advertising and client solution</a:t>
            </a:r>
            <a:endParaRPr sz="1000" b="0" dirty="0">
              <a:solidFill>
                <a:srgbClr val="6574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ECB8C4-D97D-4AB0-A1FA-7CF73FEF3337}"/>
              </a:ext>
            </a:extLst>
          </p:cNvPr>
          <p:cNvSpPr>
            <a:spLocks noGrp="1"/>
          </p:cNvSpPr>
          <p:nvPr/>
        </p:nvSpPr>
        <p:spPr>
          <a:xfrm>
            <a:off x="4333875" y="1815463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1A39A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9BAAAA-57D5-4948-BCF2-A1D2E20205AF}"/>
              </a:ext>
            </a:extLst>
          </p:cNvPr>
          <p:cNvSpPr>
            <a:spLocks noGrp="1"/>
          </p:cNvSpPr>
          <p:nvPr/>
        </p:nvSpPr>
        <p:spPr>
          <a:xfrm>
            <a:off x="3162300" y="1986913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1324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43D"/>
                </a:solidFill>
                <a:latin typeface="Aptos"/>
                <a:ea typeface="Aptos"/>
                <a:cs typeface="Aptos"/>
              </a:rPr>
              <a:t>Network18 | Integrated Marketing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BC6357-9F89-4BED-A436-9668D0D42FA6}"/>
              </a:ext>
            </a:extLst>
          </p:cNvPr>
          <p:cNvSpPr>
            <a:spLocks noGrp="1"/>
          </p:cNvSpPr>
          <p:nvPr/>
        </p:nvSpPr>
        <p:spPr>
          <a:xfrm>
            <a:off x="3162300" y="2196463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lnSpcReduction="10000"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lang="en-US" sz="1000" dirty="0"/>
              <a:t>Led integrated campaigns across digital acquisition and brand marketing</a:t>
            </a:r>
            <a:endParaRPr sz="1000" b="0" dirty="0">
              <a:solidFill>
                <a:srgbClr val="6574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A65D122-8E93-4C5D-AAFD-A57798741DAE}"/>
              </a:ext>
            </a:extLst>
          </p:cNvPr>
          <p:cNvSpPr>
            <a:spLocks noGrp="1"/>
          </p:cNvSpPr>
          <p:nvPr/>
        </p:nvSpPr>
        <p:spPr>
          <a:xfrm>
            <a:off x="7515225" y="1815463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1A39A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606A30-556D-4756-A2C8-511D533C294C}"/>
              </a:ext>
            </a:extLst>
          </p:cNvPr>
          <p:cNvSpPr>
            <a:spLocks noGrp="1"/>
          </p:cNvSpPr>
          <p:nvPr/>
        </p:nvSpPr>
        <p:spPr>
          <a:xfrm>
            <a:off x="6343650" y="1986913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13243D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13243D"/>
                </a:solidFill>
                <a:latin typeface="Aptos"/>
                <a:ea typeface="Aptos"/>
                <a:cs typeface="Aptos"/>
              </a:rPr>
              <a:t>Cisco | Digital</a:t>
            </a:r>
            <a:r>
              <a:rPr lang="en-IN" sz="1050" b="1" dirty="0">
                <a:solidFill>
                  <a:srgbClr val="13243D"/>
                </a:solidFill>
                <a:latin typeface="Aptos"/>
                <a:ea typeface="Aptos"/>
                <a:cs typeface="Aptos"/>
              </a:rPr>
              <a:t> Mktg, ABM &amp; Demand Gen</a:t>
            </a:r>
            <a:endParaRPr sz="1050" b="1" dirty="0">
              <a:solidFill>
                <a:srgbClr val="13243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1AD0A4-E4BC-4088-9434-EFB92C0CE242}"/>
              </a:ext>
            </a:extLst>
          </p:cNvPr>
          <p:cNvSpPr>
            <a:spLocks noGrp="1"/>
          </p:cNvSpPr>
          <p:nvPr/>
        </p:nvSpPr>
        <p:spPr>
          <a:xfrm>
            <a:off x="6343650" y="2196463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lang="en-US" sz="1000" dirty="0"/>
              <a:t>Scaled enterprise digital marketing, paid media, and demand generation across global markets.</a:t>
            </a:r>
            <a:endParaRPr sz="1000" b="0" dirty="0">
              <a:solidFill>
                <a:srgbClr val="6574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4471127-5976-4CFF-A208-C75145D18545}"/>
              </a:ext>
            </a:extLst>
          </p:cNvPr>
          <p:cNvSpPr>
            <a:spLocks noGrp="1"/>
          </p:cNvSpPr>
          <p:nvPr/>
        </p:nvSpPr>
        <p:spPr>
          <a:xfrm>
            <a:off x="10715625" y="1815463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1A39A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327365-D624-4213-B696-3D642C90CEC5}"/>
              </a:ext>
            </a:extLst>
          </p:cNvPr>
          <p:cNvSpPr>
            <a:spLocks noGrp="1"/>
          </p:cNvSpPr>
          <p:nvPr/>
        </p:nvSpPr>
        <p:spPr>
          <a:xfrm>
            <a:off x="9544050" y="1986913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303"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13243D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13243D"/>
                </a:solidFill>
                <a:latin typeface="Aptos"/>
                <a:ea typeface="Aptos"/>
                <a:cs typeface="Aptos"/>
              </a:rPr>
              <a:t>Keysight </a:t>
            </a:r>
            <a:r>
              <a:rPr sz="1050" b="1" dirty="0" err="1">
                <a:solidFill>
                  <a:srgbClr val="13243D"/>
                </a:solidFill>
                <a:latin typeface="Aptos"/>
                <a:ea typeface="Aptos"/>
                <a:cs typeface="Aptos"/>
              </a:rPr>
              <a:t>Technolo</a:t>
            </a:r>
            <a:r>
              <a:rPr lang="en-IN" sz="1050" b="1" dirty="0" err="1">
                <a:solidFill>
                  <a:srgbClr val="13243D"/>
                </a:solidFill>
                <a:latin typeface="Aptos"/>
                <a:ea typeface="Aptos"/>
                <a:cs typeface="Aptos"/>
              </a:rPr>
              <a:t>gies</a:t>
            </a:r>
            <a:r>
              <a:rPr sz="1050" b="1" dirty="0">
                <a:solidFill>
                  <a:srgbClr val="13243D"/>
                </a:solidFill>
                <a:latin typeface="Aptos"/>
                <a:ea typeface="Aptos"/>
                <a:cs typeface="Aptos"/>
              </a:rPr>
              <a:t> | AI &amp; Growth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1950CE-7CDA-423A-9684-DE0E9B6A3A81}"/>
              </a:ext>
            </a:extLst>
          </p:cNvPr>
          <p:cNvSpPr>
            <a:spLocks noGrp="1"/>
          </p:cNvSpPr>
          <p:nvPr/>
        </p:nvSpPr>
        <p:spPr>
          <a:xfrm>
            <a:off x="9544050" y="2196463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921"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lang="en-US" sz="1000" dirty="0"/>
              <a:t>Driving digital marketing transformation through AI, analytics, and performance optimization.</a:t>
            </a:r>
            <a:endParaRPr sz="1000" b="0" dirty="0">
              <a:solidFill>
                <a:srgbClr val="6574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label-Target Roles">
            <a:extLst>
              <a:ext uri="{FF2B5EF4-FFF2-40B4-BE49-F238E27FC236}">
                <a16:creationId xmlns:a16="http://schemas.microsoft.com/office/drawing/2014/main" id="{373B53C4-0313-4743-91EC-A2C16D67FE85}"/>
              </a:ext>
            </a:extLst>
          </p:cNvPr>
          <p:cNvSpPr>
            <a:spLocks noGrp="1"/>
          </p:cNvSpPr>
          <p:nvPr/>
        </p:nvSpPr>
        <p:spPr>
          <a:xfrm>
            <a:off x="8328704" y="5293183"/>
            <a:ext cx="3790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21A39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21A39A"/>
                </a:solidFill>
                <a:latin typeface="Aptos"/>
                <a:ea typeface="Aptos"/>
                <a:cs typeface="Aptos"/>
              </a:rPr>
              <a:t>TARGET ROLES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264731-7104-4BD4-BCE2-D9A23E8C0569}"/>
              </a:ext>
            </a:extLst>
          </p:cNvPr>
          <p:cNvSpPr>
            <a:spLocks noGrp="1"/>
          </p:cNvSpPr>
          <p:nvPr/>
        </p:nvSpPr>
        <p:spPr>
          <a:xfrm>
            <a:off x="8328704" y="5502733"/>
            <a:ext cx="3790950" cy="9525"/>
          </a:xfrm>
          <a:prstGeom prst="rect">
            <a:avLst/>
          </a:prstGeom>
          <a:solidFill>
            <a:srgbClr val="D9E1EA"/>
          </a:solidFill>
          <a:ln w="0">
            <a:noFill/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3247968-1552-479C-A433-7B3D99CD4CD7}"/>
              </a:ext>
            </a:extLst>
          </p:cNvPr>
          <p:cNvSpPr>
            <a:spLocks noGrp="1"/>
          </p:cNvSpPr>
          <p:nvPr/>
        </p:nvSpPr>
        <p:spPr>
          <a:xfrm>
            <a:off x="8328704" y="5588458"/>
            <a:ext cx="12573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B4226B1-3DEF-4105-9CE5-B35F86A4AA81}"/>
              </a:ext>
            </a:extLst>
          </p:cNvPr>
          <p:cNvSpPr>
            <a:spLocks noGrp="1"/>
          </p:cNvSpPr>
          <p:nvPr/>
        </p:nvSpPr>
        <p:spPr>
          <a:xfrm>
            <a:off x="8404904" y="5626558"/>
            <a:ext cx="1104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680" lnSpcReduction="10000"/>
          </a:bodyPr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9"/>
                </a:solidFill>
                <a:latin typeface="Aptos"/>
                <a:ea typeface="Aptos"/>
                <a:cs typeface="Aptos"/>
              </a:rPr>
              <a:t>Head of Marketing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0FCBA82-EC69-4F38-9C7C-80F63EAA058D}"/>
              </a:ext>
            </a:extLst>
          </p:cNvPr>
          <p:cNvSpPr>
            <a:spLocks noGrp="1"/>
          </p:cNvSpPr>
          <p:nvPr/>
        </p:nvSpPr>
        <p:spPr>
          <a:xfrm>
            <a:off x="9662204" y="5588458"/>
            <a:ext cx="158115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DAE7D6-A499-414E-8E5C-EEA104796CD0}"/>
              </a:ext>
            </a:extLst>
          </p:cNvPr>
          <p:cNvSpPr>
            <a:spLocks noGrp="1"/>
          </p:cNvSpPr>
          <p:nvPr/>
        </p:nvSpPr>
        <p:spPr>
          <a:xfrm>
            <a:off x="9738404" y="5626558"/>
            <a:ext cx="1428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680" lnSpcReduction="10000"/>
          </a:bodyPr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9"/>
                </a:solidFill>
                <a:latin typeface="Aptos"/>
                <a:ea typeface="Aptos"/>
                <a:cs typeface="Aptos"/>
              </a:rPr>
              <a:t>Head of Digital Marketing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AFC03F1-366E-4303-AF31-DFC65AD76B04}"/>
              </a:ext>
            </a:extLst>
          </p:cNvPr>
          <p:cNvSpPr>
            <a:spLocks noGrp="1"/>
          </p:cNvSpPr>
          <p:nvPr/>
        </p:nvSpPr>
        <p:spPr>
          <a:xfrm>
            <a:off x="8328704" y="5893258"/>
            <a:ext cx="17145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9DBACF4-6D56-4468-B3AD-33FB3874FA0F}"/>
              </a:ext>
            </a:extLst>
          </p:cNvPr>
          <p:cNvSpPr>
            <a:spLocks noGrp="1"/>
          </p:cNvSpPr>
          <p:nvPr/>
        </p:nvSpPr>
        <p:spPr>
          <a:xfrm>
            <a:off x="8404904" y="5931358"/>
            <a:ext cx="15621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0180"/>
          </a:bodyPr>
          <a:lstStyle/>
          <a:p>
            <a:pPr>
              <a:lnSpc>
                <a:spcPct val="105000"/>
              </a:lnSpc>
              <a:buNone/>
              <a:defRPr sz="975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Head of Demand Generation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B02EF51-6DEA-4DEC-BE4B-2858A8080293}"/>
              </a:ext>
            </a:extLst>
          </p:cNvPr>
          <p:cNvSpPr>
            <a:spLocks noGrp="1"/>
          </p:cNvSpPr>
          <p:nvPr/>
        </p:nvSpPr>
        <p:spPr>
          <a:xfrm>
            <a:off x="10119404" y="5893258"/>
            <a:ext cx="200025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F5A5C4-1414-4CCE-8DCB-4C7C79BE795E}"/>
              </a:ext>
            </a:extLst>
          </p:cNvPr>
          <p:cNvSpPr>
            <a:spLocks noGrp="1"/>
          </p:cNvSpPr>
          <p:nvPr/>
        </p:nvSpPr>
        <p:spPr>
          <a:xfrm>
            <a:off x="10195604" y="5931358"/>
            <a:ext cx="1847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680" lnSpcReduction="10000"/>
          </a:bodyPr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9"/>
                </a:solidFill>
                <a:latin typeface="Aptos"/>
                <a:ea typeface="Aptos"/>
                <a:cs typeface="Aptos"/>
              </a:rPr>
              <a:t>Head of Performance Marketing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E51DA6F-310E-4C4B-B4DA-D856679A5F11}"/>
              </a:ext>
            </a:extLst>
          </p:cNvPr>
          <p:cNvSpPr>
            <a:spLocks noGrp="1"/>
          </p:cNvSpPr>
          <p:nvPr/>
        </p:nvSpPr>
        <p:spPr>
          <a:xfrm>
            <a:off x="8328704" y="6198058"/>
            <a:ext cx="16383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A3669EF-D48F-48CB-BCF6-A97E3C44DC48}"/>
              </a:ext>
            </a:extLst>
          </p:cNvPr>
          <p:cNvSpPr>
            <a:spLocks noGrp="1"/>
          </p:cNvSpPr>
          <p:nvPr/>
        </p:nvSpPr>
        <p:spPr>
          <a:xfrm>
            <a:off x="8404904" y="6236158"/>
            <a:ext cx="1485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680" lnSpcReduction="10000"/>
          </a:bodyPr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9"/>
                </a:solidFill>
                <a:latin typeface="Aptos"/>
                <a:ea typeface="Aptos"/>
                <a:cs typeface="Aptos"/>
              </a:rPr>
              <a:t>Head of Growth Marketing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C3BC5AF-571E-4CD4-9134-DFE998B92C7A}"/>
              </a:ext>
            </a:extLst>
          </p:cNvPr>
          <p:cNvSpPr>
            <a:spLocks noGrp="1"/>
          </p:cNvSpPr>
          <p:nvPr/>
        </p:nvSpPr>
        <p:spPr>
          <a:xfrm>
            <a:off x="10043204" y="6198058"/>
            <a:ext cx="135255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AAD07B7-C041-4BB0-A4FC-FF41C0330F08}"/>
              </a:ext>
            </a:extLst>
          </p:cNvPr>
          <p:cNvSpPr>
            <a:spLocks noGrp="1"/>
          </p:cNvSpPr>
          <p:nvPr/>
        </p:nvSpPr>
        <p:spPr>
          <a:xfrm>
            <a:off x="10119404" y="6236158"/>
            <a:ext cx="1200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680" lnSpcReduction="10000"/>
          </a:bodyPr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9"/>
                </a:solidFill>
                <a:latin typeface="Aptos"/>
                <a:ea typeface="Aptos"/>
                <a:cs typeface="Aptos"/>
              </a:rPr>
              <a:t>Head of Paid Media</a:t>
            </a:r>
          </a:p>
        </p:txBody>
      </p:sp>
      <p:sp>
        <p:nvSpPr>
          <p:cNvPr id="42" name="label-Executive Snapshot">
            <a:extLst>
              <a:ext uri="{FF2B5EF4-FFF2-40B4-BE49-F238E27FC236}">
                <a16:creationId xmlns:a16="http://schemas.microsoft.com/office/drawing/2014/main" id="{F4687F43-B876-4F10-B092-D0B635FB8673}"/>
              </a:ext>
            </a:extLst>
          </p:cNvPr>
          <p:cNvSpPr>
            <a:spLocks noGrp="1"/>
          </p:cNvSpPr>
          <p:nvPr/>
        </p:nvSpPr>
        <p:spPr>
          <a:xfrm>
            <a:off x="264664" y="2899661"/>
            <a:ext cx="3790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21A39A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21A39A"/>
                </a:solidFill>
                <a:latin typeface="Aptos"/>
                <a:ea typeface="Aptos"/>
                <a:cs typeface="Aptos"/>
              </a:rPr>
              <a:t>EXECUTIVE SNAPSHOT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8117AAC-B664-486D-8C3B-CE49648296B7}"/>
              </a:ext>
            </a:extLst>
          </p:cNvPr>
          <p:cNvSpPr>
            <a:spLocks noGrp="1"/>
          </p:cNvSpPr>
          <p:nvPr/>
        </p:nvSpPr>
        <p:spPr>
          <a:xfrm>
            <a:off x="329980" y="3065667"/>
            <a:ext cx="3790950" cy="9525"/>
          </a:xfrm>
          <a:prstGeom prst="rect">
            <a:avLst/>
          </a:prstGeom>
          <a:solidFill>
            <a:srgbClr val="D9E1EA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21FF0FB-6929-4AC3-BBC8-6FB5A81EE977}"/>
              </a:ext>
            </a:extLst>
          </p:cNvPr>
          <p:cNvSpPr>
            <a:spLocks noGrp="1"/>
          </p:cNvSpPr>
          <p:nvPr/>
        </p:nvSpPr>
        <p:spPr>
          <a:xfrm>
            <a:off x="283501" y="3225853"/>
            <a:ext cx="1924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22"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lang="en-US" sz="1125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B2B Technology</a:t>
            </a:r>
          </a:p>
          <a:p>
            <a:pPr algn="l">
              <a:lnSpc>
                <a:spcPct val="108000"/>
              </a:lnSpc>
              <a:buNone/>
              <a:defRPr sz="1125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lang="en-US" sz="1125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Digital Strategy</a:t>
            </a:r>
          </a:p>
          <a:p>
            <a:pPr algn="l">
              <a:lnSpc>
                <a:spcPct val="108000"/>
              </a:lnSpc>
              <a:buNone/>
              <a:defRPr sz="1125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lang="en-US" sz="1125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Demand Generation</a:t>
            </a:r>
          </a:p>
          <a:p>
            <a:pPr algn="l">
              <a:lnSpc>
                <a:spcPct val="108000"/>
              </a:lnSpc>
              <a:buNone/>
              <a:defRPr sz="1125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lang="en-US" sz="1125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Global Marketing</a:t>
            </a:r>
            <a:endParaRPr lang="en-US" sz="1125" b="0" dirty="0">
              <a:solidFill>
                <a:srgbClr val="1E2A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17D0A1-2293-43D7-9944-E3D19B20EE0A}"/>
              </a:ext>
            </a:extLst>
          </p:cNvPr>
          <p:cNvSpPr>
            <a:spLocks noGrp="1"/>
          </p:cNvSpPr>
          <p:nvPr/>
        </p:nvSpPr>
        <p:spPr>
          <a:xfrm>
            <a:off x="2191400" y="2899662"/>
            <a:ext cx="17716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65" lnSpcReduction="10000"/>
          </a:bodyPr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21A39A"/>
                </a:solidFill>
                <a:latin typeface="Aptos"/>
              </a:rPr>
              <a:t>PRIMARY FOCUS AREAS</a:t>
            </a:r>
          </a:p>
          <a:p>
            <a:pPr algn="l">
              <a:lnSpc>
                <a:spcPct val="110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endParaRPr lang="en-IN" sz="1200" b="0" dirty="0">
              <a:solidFill>
                <a:srgbClr val="1E2A39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10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lang="en-IN" sz="12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Digital Marketing</a:t>
            </a:r>
          </a:p>
          <a:p>
            <a:pPr algn="l">
              <a:lnSpc>
                <a:spcPct val="110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lang="en-IN" sz="12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Performance Marketing</a:t>
            </a:r>
          </a:p>
          <a:p>
            <a:pPr algn="l">
              <a:lnSpc>
                <a:spcPct val="110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lang="en-IN" sz="12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Customer Acquisition</a:t>
            </a:r>
          </a:p>
          <a:p>
            <a:pPr algn="l">
              <a:lnSpc>
                <a:spcPct val="110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lang="en-IN" sz="12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Paid Media</a:t>
            </a:r>
          </a:p>
        </p:txBody>
      </p:sp>
      <p:sp>
        <p:nvSpPr>
          <p:cNvPr id="46" name="label-Industry Expertise">
            <a:extLst>
              <a:ext uri="{FF2B5EF4-FFF2-40B4-BE49-F238E27FC236}">
                <a16:creationId xmlns:a16="http://schemas.microsoft.com/office/drawing/2014/main" id="{79AA05ED-940A-4B9F-92BA-9DEE5D386771}"/>
              </a:ext>
            </a:extLst>
          </p:cNvPr>
          <p:cNvSpPr>
            <a:spLocks noGrp="1"/>
          </p:cNvSpPr>
          <p:nvPr/>
        </p:nvSpPr>
        <p:spPr>
          <a:xfrm>
            <a:off x="4240363" y="5300329"/>
            <a:ext cx="3790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21A39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21A39A"/>
                </a:solidFill>
                <a:latin typeface="Aptos"/>
                <a:ea typeface="Aptos"/>
                <a:cs typeface="Aptos"/>
              </a:rPr>
              <a:t>INDUSTRY EXPERTISE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497AB72-FB27-44DD-BF80-6FAC99136CFF}"/>
              </a:ext>
            </a:extLst>
          </p:cNvPr>
          <p:cNvSpPr>
            <a:spLocks noGrp="1"/>
          </p:cNvSpPr>
          <p:nvPr/>
        </p:nvSpPr>
        <p:spPr>
          <a:xfrm>
            <a:off x="4465863" y="5507323"/>
            <a:ext cx="3790950" cy="9525"/>
          </a:xfrm>
          <a:prstGeom prst="rect">
            <a:avLst/>
          </a:prstGeom>
          <a:solidFill>
            <a:srgbClr val="D9E1EA"/>
          </a:solidFill>
          <a:ln w="0">
            <a:noFill/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D51FA16-BDD2-4245-BAC5-9204252AF446}"/>
              </a:ext>
            </a:extLst>
          </p:cNvPr>
          <p:cNvSpPr>
            <a:spLocks noGrp="1"/>
          </p:cNvSpPr>
          <p:nvPr/>
        </p:nvSpPr>
        <p:spPr>
          <a:xfrm>
            <a:off x="5222129" y="5619749"/>
            <a:ext cx="2887725" cy="11402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B2B Enterprise Technology  </a:t>
            </a:r>
            <a:r>
              <a:rPr lang="en-IN" sz="11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l">
              <a:lnSpc>
                <a:spcPct val="108000"/>
              </a:lnSpc>
              <a:buNone/>
              <a:defRPr sz="975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Enterprise Software &amp; SaaS</a:t>
            </a:r>
            <a:r>
              <a:rPr lang="en-IN" sz="11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 |</a:t>
            </a:r>
            <a:endParaRPr sz="1100" b="0" dirty="0">
              <a:solidFill>
                <a:srgbClr val="1E2A39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8000"/>
              </a:lnSpc>
              <a:buNone/>
              <a:defRPr sz="975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Cloud &amp; Data Center  |  Enterprise Networking</a:t>
            </a:r>
            <a:r>
              <a:rPr lang="en-IN" sz="11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 |</a:t>
            </a:r>
            <a:endParaRPr sz="1100" b="0" dirty="0">
              <a:solidFill>
                <a:srgbClr val="1E2A39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8000"/>
              </a:lnSpc>
              <a:buNone/>
              <a:defRPr sz="975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Semiconductor &amp; Hardware </a:t>
            </a:r>
            <a:r>
              <a:rPr lang="en-IN" sz="11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|</a:t>
            </a:r>
            <a:r>
              <a:rPr sz="11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 </a:t>
            </a:r>
            <a:endParaRPr lang="en-IN" sz="1100" b="0" dirty="0">
              <a:solidFill>
                <a:srgbClr val="1E2A39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8000"/>
              </a:lnSpc>
              <a:buNone/>
              <a:defRPr sz="975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Cyber Security</a:t>
            </a:r>
            <a:r>
              <a:rPr lang="en-IN" sz="11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|  Power Systems</a:t>
            </a:r>
          </a:p>
        </p:txBody>
      </p:sp>
      <p:sp>
        <p:nvSpPr>
          <p:cNvPr id="49" name="label-Business Impact">
            <a:extLst>
              <a:ext uri="{FF2B5EF4-FFF2-40B4-BE49-F238E27FC236}">
                <a16:creationId xmlns:a16="http://schemas.microsoft.com/office/drawing/2014/main" id="{FDBDA94C-CCFC-48CC-AE8E-DF94E1A05A05}"/>
              </a:ext>
            </a:extLst>
          </p:cNvPr>
          <p:cNvSpPr>
            <a:spLocks noGrp="1"/>
          </p:cNvSpPr>
          <p:nvPr/>
        </p:nvSpPr>
        <p:spPr>
          <a:xfrm>
            <a:off x="2540255" y="2838453"/>
            <a:ext cx="716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21A39A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21A39A"/>
                </a:solidFill>
                <a:latin typeface="Aptos"/>
                <a:ea typeface="Aptos"/>
                <a:cs typeface="Aptos"/>
              </a:rPr>
              <a:t>BUSINESS IMPACT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885D7E4-345E-447A-8EE0-D30222EF3FB4}"/>
              </a:ext>
            </a:extLst>
          </p:cNvPr>
          <p:cNvSpPr>
            <a:spLocks noGrp="1"/>
          </p:cNvSpPr>
          <p:nvPr/>
        </p:nvSpPr>
        <p:spPr>
          <a:xfrm>
            <a:off x="4532245" y="3106222"/>
            <a:ext cx="7162800" cy="9525"/>
          </a:xfrm>
          <a:prstGeom prst="rect">
            <a:avLst/>
          </a:prstGeom>
          <a:solidFill>
            <a:srgbClr val="D9E1EA"/>
          </a:solidFill>
          <a:ln w="0">
            <a:noFill/>
            <a:prstDash val="solid"/>
          </a:ln>
        </p:spPr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F2EF493-68A4-4FB5-8F49-B1736E421895}"/>
              </a:ext>
            </a:extLst>
          </p:cNvPr>
          <p:cNvSpPr>
            <a:spLocks noGrp="1"/>
          </p:cNvSpPr>
          <p:nvPr/>
        </p:nvSpPr>
        <p:spPr>
          <a:xfrm>
            <a:off x="4209554" y="3191947"/>
            <a:ext cx="1952625" cy="723900"/>
          </a:xfrm>
          <a:prstGeom prst="roundRect">
            <a:avLst>
              <a:gd name="adj" fmla="val 10526"/>
            </a:avLst>
          </a:prstGeom>
          <a:solidFill>
            <a:srgbClr val="E8F5F3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FE91813-393E-486A-A030-5812000D5000}"/>
              </a:ext>
            </a:extLst>
          </p:cNvPr>
          <p:cNvSpPr>
            <a:spLocks noGrp="1"/>
          </p:cNvSpPr>
          <p:nvPr/>
        </p:nvSpPr>
        <p:spPr>
          <a:xfrm>
            <a:off x="4323854" y="3287197"/>
            <a:ext cx="85725" cy="85725"/>
          </a:xfrm>
          <a:prstGeom prst="roundRect">
            <a:avLst>
              <a:gd name="adj" fmla="val 50000"/>
            </a:avLst>
          </a:prstGeom>
          <a:solidFill>
            <a:srgbClr val="21A39A"/>
          </a:solidFill>
          <a:ln w="0">
            <a:noFill/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C531DD0-2430-4446-8096-30A60DFCF02C}"/>
              </a:ext>
            </a:extLst>
          </p:cNvPr>
          <p:cNvSpPr>
            <a:spLocks noGrp="1"/>
          </p:cNvSpPr>
          <p:nvPr/>
        </p:nvSpPr>
        <p:spPr>
          <a:xfrm>
            <a:off x="4504829" y="3258622"/>
            <a:ext cx="30861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246"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1324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43D"/>
                </a:solidFill>
                <a:latin typeface="Aptos"/>
                <a:ea typeface="Aptos"/>
                <a:cs typeface="Aptos"/>
              </a:rPr>
              <a:t>GROWTH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EF23A37-BC9B-433E-86F8-158986CF96D9}"/>
              </a:ext>
            </a:extLst>
          </p:cNvPr>
          <p:cNvSpPr>
            <a:spLocks noGrp="1"/>
          </p:cNvSpPr>
          <p:nvPr/>
        </p:nvSpPr>
        <p:spPr>
          <a:xfrm>
            <a:off x="4342904" y="3477697"/>
            <a:ext cx="3257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8362" lnSpcReduction="10000"/>
          </a:bodyPr>
          <a:lstStyle/>
          <a:p>
            <a:pPr algn="l">
              <a:lnSpc>
                <a:spcPct val="98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25% Qualified Pipeline </a:t>
            </a:r>
            <a:r>
              <a:rPr lang="en-IN" sz="9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Growth</a:t>
            </a:r>
            <a:endParaRPr sz="900" b="0" dirty="0">
              <a:solidFill>
                <a:srgbClr val="1E2A39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98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lang="en-IN" dirty="0"/>
              <a:t>22% Qualified Conversions</a:t>
            </a:r>
            <a:endParaRPr sz="900" b="0" dirty="0">
              <a:solidFill>
                <a:srgbClr val="1E2A39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98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400+ Enterprise Opportunities</a:t>
            </a:r>
          </a:p>
          <a:p>
            <a:pPr algn="l">
              <a:lnSpc>
                <a:spcPct val="98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40% Target Account Penetration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6F816850-B0AB-404F-9605-53C93A4CA442}"/>
              </a:ext>
            </a:extLst>
          </p:cNvPr>
          <p:cNvSpPr>
            <a:spLocks noGrp="1"/>
          </p:cNvSpPr>
          <p:nvPr/>
        </p:nvSpPr>
        <p:spPr>
          <a:xfrm>
            <a:off x="6266954" y="3191947"/>
            <a:ext cx="1675239" cy="723900"/>
          </a:xfrm>
          <a:prstGeom prst="roundRect">
            <a:avLst>
              <a:gd name="adj" fmla="val 10526"/>
            </a:avLst>
          </a:prstGeom>
          <a:solidFill>
            <a:srgbClr val="EAF0F8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AD14090-C019-460F-8906-F645FFA71E33}"/>
              </a:ext>
            </a:extLst>
          </p:cNvPr>
          <p:cNvSpPr>
            <a:spLocks noGrp="1"/>
          </p:cNvSpPr>
          <p:nvPr/>
        </p:nvSpPr>
        <p:spPr>
          <a:xfrm>
            <a:off x="6381254" y="3287197"/>
            <a:ext cx="85725" cy="85725"/>
          </a:xfrm>
          <a:prstGeom prst="roundRect">
            <a:avLst>
              <a:gd name="adj" fmla="val 50000"/>
            </a:avLst>
          </a:prstGeom>
          <a:solidFill>
            <a:srgbClr val="13243D"/>
          </a:solidFill>
          <a:ln w="0">
            <a:noFill/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D18EF30-18CC-4367-9C70-E44900A07E9C}"/>
              </a:ext>
            </a:extLst>
          </p:cNvPr>
          <p:cNvSpPr>
            <a:spLocks noGrp="1"/>
          </p:cNvSpPr>
          <p:nvPr/>
        </p:nvSpPr>
        <p:spPr>
          <a:xfrm>
            <a:off x="6605774" y="3258622"/>
            <a:ext cx="30861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246"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13243D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3243D"/>
                </a:solidFill>
                <a:latin typeface="Aptos"/>
                <a:ea typeface="Aptos"/>
                <a:cs typeface="Aptos"/>
              </a:rPr>
              <a:t>EFFICIENCY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DAFEC4C-155E-4D49-BFBF-94956FD3086D}"/>
              </a:ext>
            </a:extLst>
          </p:cNvPr>
          <p:cNvSpPr>
            <a:spLocks noGrp="1"/>
          </p:cNvSpPr>
          <p:nvPr/>
        </p:nvSpPr>
        <p:spPr>
          <a:xfrm>
            <a:off x="6460603" y="3477697"/>
            <a:ext cx="3257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362"/>
          </a:bodyPr>
          <a:lstStyle/>
          <a:p>
            <a:pPr algn="l">
              <a:lnSpc>
                <a:spcPct val="98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17% Lower CPA</a:t>
            </a:r>
          </a:p>
          <a:p>
            <a:pPr algn="l">
              <a:lnSpc>
                <a:spcPct val="98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20% Higher Pipeline Conversion</a:t>
            </a:r>
          </a:p>
          <a:p>
            <a:pPr algn="l">
              <a:lnSpc>
                <a:spcPct val="98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15x ROMI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6125926-5E5B-4564-8FD5-8D97B80E011B}"/>
              </a:ext>
            </a:extLst>
          </p:cNvPr>
          <p:cNvSpPr>
            <a:spLocks noGrp="1"/>
          </p:cNvSpPr>
          <p:nvPr/>
        </p:nvSpPr>
        <p:spPr>
          <a:xfrm>
            <a:off x="4209554" y="4030147"/>
            <a:ext cx="2000250" cy="723900"/>
          </a:xfrm>
          <a:prstGeom prst="roundRect">
            <a:avLst>
              <a:gd name="adj" fmla="val 10526"/>
            </a:avLst>
          </a:prstGeom>
          <a:solidFill>
            <a:srgbClr val="F8F1D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432EB80D-278F-4DAA-83D4-51A3E02EBD30}"/>
              </a:ext>
            </a:extLst>
          </p:cNvPr>
          <p:cNvSpPr>
            <a:spLocks noGrp="1"/>
          </p:cNvSpPr>
          <p:nvPr/>
        </p:nvSpPr>
        <p:spPr>
          <a:xfrm>
            <a:off x="4323854" y="4125397"/>
            <a:ext cx="85725" cy="85725"/>
          </a:xfrm>
          <a:prstGeom prst="roundRect">
            <a:avLst>
              <a:gd name="adj" fmla="val 50000"/>
            </a:avLst>
          </a:prstGeom>
          <a:solidFill>
            <a:srgbClr val="B78B2B"/>
          </a:solidFill>
          <a:ln w="0">
            <a:noFill/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3B95D3E-5A05-4158-AD1D-9C42A6CCD2B1}"/>
              </a:ext>
            </a:extLst>
          </p:cNvPr>
          <p:cNvSpPr>
            <a:spLocks noGrp="1"/>
          </p:cNvSpPr>
          <p:nvPr/>
        </p:nvSpPr>
        <p:spPr>
          <a:xfrm>
            <a:off x="4504829" y="4096822"/>
            <a:ext cx="30861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246"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1324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43D"/>
                </a:solidFill>
                <a:latin typeface="Aptos"/>
                <a:ea typeface="Aptos"/>
                <a:cs typeface="Aptos"/>
              </a:rPr>
              <a:t>LEADERSHIP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ECB3969-063B-4F83-9761-28F3B84C10C6}"/>
              </a:ext>
            </a:extLst>
          </p:cNvPr>
          <p:cNvSpPr>
            <a:spLocks noGrp="1"/>
          </p:cNvSpPr>
          <p:nvPr/>
        </p:nvSpPr>
        <p:spPr>
          <a:xfrm>
            <a:off x="4342904" y="4315897"/>
            <a:ext cx="3257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482" lnSpcReduction="10000"/>
          </a:bodyPr>
          <a:lstStyle/>
          <a:p>
            <a:pPr algn="l">
              <a:lnSpc>
                <a:spcPct val="98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E2A39"/>
                </a:solidFill>
                <a:latin typeface="Aptos"/>
                <a:ea typeface="Aptos"/>
                <a:cs typeface="Aptos"/>
              </a:rPr>
              <a:t>$4M+ Budget Management</a:t>
            </a:r>
          </a:p>
          <a:p>
            <a:pPr algn="l">
              <a:lnSpc>
                <a:spcPct val="98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E2A39"/>
                </a:solidFill>
                <a:latin typeface="Aptos"/>
                <a:ea typeface="Aptos"/>
                <a:cs typeface="Aptos"/>
              </a:rPr>
              <a:t>Global Agency Management</a:t>
            </a:r>
          </a:p>
          <a:p>
            <a:pPr algn="l">
              <a:lnSpc>
                <a:spcPct val="98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E2A39"/>
                </a:solidFill>
                <a:latin typeface="Aptos"/>
                <a:ea typeface="Aptos"/>
                <a:cs typeface="Aptos"/>
              </a:rPr>
              <a:t>Cross-functional Team Leadership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DE12DC97-029F-4290-AC20-E95B5CDFEB55}"/>
              </a:ext>
            </a:extLst>
          </p:cNvPr>
          <p:cNvSpPr>
            <a:spLocks noGrp="1"/>
          </p:cNvSpPr>
          <p:nvPr/>
        </p:nvSpPr>
        <p:spPr>
          <a:xfrm>
            <a:off x="6266953" y="4030147"/>
            <a:ext cx="1675239" cy="723900"/>
          </a:xfrm>
          <a:prstGeom prst="roundRect">
            <a:avLst>
              <a:gd name="adj" fmla="val 10526"/>
            </a:avLst>
          </a:prstGeom>
          <a:solidFill>
            <a:srgbClr val="F8EBEC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E85FBC7-1532-4577-8DEC-BB0B8F55E999}"/>
              </a:ext>
            </a:extLst>
          </p:cNvPr>
          <p:cNvSpPr>
            <a:spLocks noGrp="1"/>
          </p:cNvSpPr>
          <p:nvPr/>
        </p:nvSpPr>
        <p:spPr>
          <a:xfrm>
            <a:off x="6381254" y="4125397"/>
            <a:ext cx="85725" cy="85725"/>
          </a:xfrm>
          <a:prstGeom prst="roundRect">
            <a:avLst>
              <a:gd name="adj" fmla="val 50000"/>
            </a:avLst>
          </a:prstGeom>
          <a:solidFill>
            <a:srgbClr val="9B5964"/>
          </a:solidFill>
          <a:ln w="0">
            <a:noFill/>
            <a:prstDash val="solid"/>
          </a:ln>
        </p:spPr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0B5F64C-0AB0-48E9-9365-EACC8FF9C803}"/>
              </a:ext>
            </a:extLst>
          </p:cNvPr>
          <p:cNvSpPr>
            <a:spLocks noGrp="1"/>
          </p:cNvSpPr>
          <p:nvPr/>
        </p:nvSpPr>
        <p:spPr>
          <a:xfrm>
            <a:off x="6598671" y="4096822"/>
            <a:ext cx="30861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246"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13243D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3243D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63D92B3-469E-423D-9728-1CED26FCAB30}"/>
              </a:ext>
            </a:extLst>
          </p:cNvPr>
          <p:cNvSpPr>
            <a:spLocks noGrp="1"/>
          </p:cNvSpPr>
          <p:nvPr/>
        </p:nvSpPr>
        <p:spPr>
          <a:xfrm>
            <a:off x="6516261" y="4315897"/>
            <a:ext cx="3257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482" lnSpcReduction="10000"/>
          </a:bodyPr>
          <a:lstStyle/>
          <a:p>
            <a:pPr algn="l">
              <a:lnSpc>
                <a:spcPct val="98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Global </a:t>
            </a:r>
            <a:r>
              <a:rPr lang="en-IN" sz="9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Program Execution</a:t>
            </a:r>
            <a:endParaRPr sz="900" b="0" dirty="0">
              <a:solidFill>
                <a:srgbClr val="1E2A39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98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14+ Markets</a:t>
            </a:r>
          </a:p>
          <a:p>
            <a:pPr algn="l">
              <a:lnSpc>
                <a:spcPct val="98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APAC  |  EMEA  |</a:t>
            </a:r>
            <a:r>
              <a:rPr lang="en-IN" sz="9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 U.S</a:t>
            </a:r>
            <a:endParaRPr sz="900" b="0" dirty="0">
              <a:solidFill>
                <a:srgbClr val="1E2A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7" name="label-Core Competencies">
            <a:extLst>
              <a:ext uri="{FF2B5EF4-FFF2-40B4-BE49-F238E27FC236}">
                <a16:creationId xmlns:a16="http://schemas.microsoft.com/office/drawing/2014/main" id="{108ADD9C-C623-4FC2-9456-155DCA412154}"/>
              </a:ext>
            </a:extLst>
          </p:cNvPr>
          <p:cNvSpPr>
            <a:spLocks noGrp="1"/>
          </p:cNvSpPr>
          <p:nvPr/>
        </p:nvSpPr>
        <p:spPr>
          <a:xfrm>
            <a:off x="879923" y="5291926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21A39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21A39A"/>
                </a:solidFill>
                <a:latin typeface="Aptos"/>
                <a:ea typeface="Aptos"/>
                <a:cs typeface="Aptos"/>
              </a:rPr>
              <a:t>CORE COMPETENCIES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11FD432-F39A-4C42-85C8-5947D1CFB3A3}"/>
              </a:ext>
            </a:extLst>
          </p:cNvPr>
          <p:cNvSpPr>
            <a:spLocks noGrp="1"/>
          </p:cNvSpPr>
          <p:nvPr/>
        </p:nvSpPr>
        <p:spPr>
          <a:xfrm>
            <a:off x="194121" y="5535884"/>
            <a:ext cx="3048000" cy="9525"/>
          </a:xfrm>
          <a:prstGeom prst="rect">
            <a:avLst/>
          </a:prstGeom>
          <a:solidFill>
            <a:srgbClr val="D9E1EA"/>
          </a:solidFill>
          <a:ln w="0">
            <a:noFill/>
            <a:prstDash val="solid"/>
          </a:ln>
        </p:spPr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CC00959-25A5-43F5-9BCE-2DA93DE41C65}"/>
              </a:ext>
            </a:extLst>
          </p:cNvPr>
          <p:cNvSpPr>
            <a:spLocks noGrp="1"/>
          </p:cNvSpPr>
          <p:nvPr/>
        </p:nvSpPr>
        <p:spPr>
          <a:xfrm>
            <a:off x="194121" y="568381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21A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1A39A"/>
                </a:solidFill>
                <a:latin typeface="Aptos"/>
                <a:ea typeface="Aptos"/>
                <a:cs typeface="Aptos"/>
              </a:rPr>
              <a:t>GROWTH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42DC651-7C3F-402F-9C39-E8F1FDC6CB1D}"/>
              </a:ext>
            </a:extLst>
          </p:cNvPr>
          <p:cNvSpPr>
            <a:spLocks noGrp="1"/>
          </p:cNvSpPr>
          <p:nvPr/>
        </p:nvSpPr>
        <p:spPr>
          <a:xfrm>
            <a:off x="879921" y="5636185"/>
            <a:ext cx="11049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0F08C03-FE13-4888-A2AE-B6135AAD7E7D}"/>
              </a:ext>
            </a:extLst>
          </p:cNvPr>
          <p:cNvSpPr>
            <a:spLocks noGrp="1"/>
          </p:cNvSpPr>
          <p:nvPr/>
        </p:nvSpPr>
        <p:spPr>
          <a:xfrm>
            <a:off x="956121" y="5674285"/>
            <a:ext cx="95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lang="en-IN" sz="8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Customer Acquisition</a:t>
            </a:r>
            <a:endParaRPr sz="800" b="0" dirty="0">
              <a:solidFill>
                <a:srgbClr val="1E2A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E34F700F-9FC2-4F3B-B67F-F6E79B110DC2}"/>
              </a:ext>
            </a:extLst>
          </p:cNvPr>
          <p:cNvSpPr>
            <a:spLocks noGrp="1"/>
          </p:cNvSpPr>
          <p:nvPr/>
        </p:nvSpPr>
        <p:spPr>
          <a:xfrm>
            <a:off x="2041971" y="5636185"/>
            <a:ext cx="120015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71F31A2-D7EC-431F-8D3A-97596CE0135E}"/>
              </a:ext>
            </a:extLst>
          </p:cNvPr>
          <p:cNvSpPr>
            <a:spLocks noGrp="1"/>
          </p:cNvSpPr>
          <p:nvPr/>
        </p:nvSpPr>
        <p:spPr>
          <a:xfrm>
            <a:off x="2118171" y="5674285"/>
            <a:ext cx="1047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8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Demand Generation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8B18FC11-7886-42F5-BC3F-28589433AD33}"/>
              </a:ext>
            </a:extLst>
          </p:cNvPr>
          <p:cNvSpPr>
            <a:spLocks noGrp="1"/>
          </p:cNvSpPr>
          <p:nvPr/>
        </p:nvSpPr>
        <p:spPr>
          <a:xfrm>
            <a:off x="3306500" y="5636185"/>
            <a:ext cx="14097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3882504-8ED6-4828-98F1-A9257CDE0BE2}"/>
              </a:ext>
            </a:extLst>
          </p:cNvPr>
          <p:cNvSpPr>
            <a:spLocks noGrp="1"/>
          </p:cNvSpPr>
          <p:nvPr/>
        </p:nvSpPr>
        <p:spPr>
          <a:xfrm>
            <a:off x="3398604" y="5674285"/>
            <a:ext cx="1257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lang="en-IN" sz="80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Conversion </a:t>
            </a:r>
            <a:r>
              <a:rPr lang="en-IN" sz="8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Optimization</a:t>
            </a:r>
            <a:endParaRPr sz="800" b="0" dirty="0">
              <a:solidFill>
                <a:srgbClr val="1E2A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AEA6102-2E52-47C7-9948-085E8E5BE51A}"/>
              </a:ext>
            </a:extLst>
          </p:cNvPr>
          <p:cNvSpPr>
            <a:spLocks noGrp="1"/>
          </p:cNvSpPr>
          <p:nvPr/>
        </p:nvSpPr>
        <p:spPr>
          <a:xfrm>
            <a:off x="194121" y="5965745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21A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1A39A"/>
                </a:solidFill>
                <a:latin typeface="Aptos"/>
                <a:ea typeface="Aptos"/>
                <a:cs typeface="Aptos"/>
              </a:rPr>
              <a:t>DIGITAL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31140978-FA41-43C4-BF68-9481468638B2}"/>
              </a:ext>
            </a:extLst>
          </p:cNvPr>
          <p:cNvSpPr>
            <a:spLocks noGrp="1"/>
          </p:cNvSpPr>
          <p:nvPr/>
        </p:nvSpPr>
        <p:spPr>
          <a:xfrm>
            <a:off x="879921" y="5918120"/>
            <a:ext cx="11049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4F16DCA-55F4-42C3-84D4-8601073DD14C}"/>
              </a:ext>
            </a:extLst>
          </p:cNvPr>
          <p:cNvSpPr>
            <a:spLocks noGrp="1"/>
          </p:cNvSpPr>
          <p:nvPr/>
        </p:nvSpPr>
        <p:spPr>
          <a:xfrm>
            <a:off x="956121" y="5956220"/>
            <a:ext cx="95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8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Digital Marketing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2D8676BD-646A-4697-B573-19BE23639AC2}"/>
              </a:ext>
            </a:extLst>
          </p:cNvPr>
          <p:cNvSpPr>
            <a:spLocks noGrp="1"/>
          </p:cNvSpPr>
          <p:nvPr/>
        </p:nvSpPr>
        <p:spPr>
          <a:xfrm>
            <a:off x="2041971" y="5918120"/>
            <a:ext cx="8382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4E0BE87-3ECA-4C3F-87CB-E75663CE8E62}"/>
              </a:ext>
            </a:extLst>
          </p:cNvPr>
          <p:cNvSpPr>
            <a:spLocks noGrp="1"/>
          </p:cNvSpPr>
          <p:nvPr/>
        </p:nvSpPr>
        <p:spPr>
          <a:xfrm>
            <a:off x="2118171" y="5956220"/>
            <a:ext cx="685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800" b="0">
                <a:solidFill>
                  <a:srgbClr val="1E2A39"/>
                </a:solidFill>
                <a:latin typeface="Aptos"/>
                <a:ea typeface="Aptos"/>
                <a:cs typeface="Aptos"/>
              </a:rPr>
              <a:t>Paid Media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243C6E9E-EC2C-4693-882F-C0BC1368B05C}"/>
              </a:ext>
            </a:extLst>
          </p:cNvPr>
          <p:cNvSpPr>
            <a:spLocks noGrp="1"/>
          </p:cNvSpPr>
          <p:nvPr/>
        </p:nvSpPr>
        <p:spPr>
          <a:xfrm>
            <a:off x="2950928" y="5920837"/>
            <a:ext cx="1297221" cy="225883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F69F17D-71D2-4D96-B2F8-DE5F675966AA}"/>
              </a:ext>
            </a:extLst>
          </p:cNvPr>
          <p:cNvSpPr>
            <a:spLocks noGrp="1"/>
          </p:cNvSpPr>
          <p:nvPr/>
        </p:nvSpPr>
        <p:spPr>
          <a:xfrm>
            <a:off x="3027128" y="5958937"/>
            <a:ext cx="1104899" cy="1592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lang="en-IN" sz="8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Omnichannel</a:t>
            </a:r>
            <a:r>
              <a:rPr sz="8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 Marketing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132CE10-0DC8-449E-BAC4-13CB87DAB418}"/>
              </a:ext>
            </a:extLst>
          </p:cNvPr>
          <p:cNvSpPr>
            <a:spLocks noGrp="1"/>
          </p:cNvSpPr>
          <p:nvPr/>
        </p:nvSpPr>
        <p:spPr>
          <a:xfrm>
            <a:off x="194121" y="6233435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21A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1A39A"/>
                </a:solidFill>
                <a:latin typeface="Aptos"/>
                <a:ea typeface="Aptos"/>
                <a:cs typeface="Aptos"/>
              </a:rPr>
              <a:t>TECH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29E64334-B48A-4AB8-8B58-7B0342CAD444}"/>
              </a:ext>
            </a:extLst>
          </p:cNvPr>
          <p:cNvSpPr>
            <a:spLocks noGrp="1"/>
          </p:cNvSpPr>
          <p:nvPr/>
        </p:nvSpPr>
        <p:spPr>
          <a:xfrm>
            <a:off x="879921" y="6185810"/>
            <a:ext cx="120015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478055E-FC5C-423E-842A-46084B77C4BC}"/>
              </a:ext>
            </a:extLst>
          </p:cNvPr>
          <p:cNvSpPr>
            <a:spLocks noGrp="1"/>
          </p:cNvSpPr>
          <p:nvPr/>
        </p:nvSpPr>
        <p:spPr>
          <a:xfrm>
            <a:off x="956121" y="6223910"/>
            <a:ext cx="1047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825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sz="800" b="0">
                <a:solidFill>
                  <a:srgbClr val="1E2A39"/>
                </a:solidFill>
                <a:latin typeface="Aptos"/>
                <a:ea typeface="Aptos"/>
                <a:cs typeface="Aptos"/>
              </a:rPr>
              <a:t>Marketing Automation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A45FC5B4-3C43-4ABA-BA31-BE68D1DFCD73}"/>
              </a:ext>
            </a:extLst>
          </p:cNvPr>
          <p:cNvSpPr>
            <a:spLocks noGrp="1"/>
          </p:cNvSpPr>
          <p:nvPr/>
        </p:nvSpPr>
        <p:spPr>
          <a:xfrm>
            <a:off x="2137221" y="6185810"/>
            <a:ext cx="11049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FD9C0CA-BC13-43E9-B002-889554426766}"/>
              </a:ext>
            </a:extLst>
          </p:cNvPr>
          <p:cNvSpPr>
            <a:spLocks noGrp="1"/>
          </p:cNvSpPr>
          <p:nvPr/>
        </p:nvSpPr>
        <p:spPr>
          <a:xfrm>
            <a:off x="2213421" y="6223910"/>
            <a:ext cx="95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825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lang="en-IN" sz="8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Marketing Analytics</a:t>
            </a:r>
            <a:endParaRPr sz="800" b="0" dirty="0">
              <a:solidFill>
                <a:srgbClr val="1E2A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961B4422-8D89-464A-907D-4BAB9D515536}"/>
              </a:ext>
            </a:extLst>
          </p:cNvPr>
          <p:cNvSpPr>
            <a:spLocks noGrp="1"/>
          </p:cNvSpPr>
          <p:nvPr/>
        </p:nvSpPr>
        <p:spPr>
          <a:xfrm>
            <a:off x="3300642" y="6193393"/>
            <a:ext cx="12573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E3D23B4-C58D-4129-A681-BB46088AF5D5}"/>
              </a:ext>
            </a:extLst>
          </p:cNvPr>
          <p:cNvSpPr>
            <a:spLocks noGrp="1"/>
          </p:cNvSpPr>
          <p:nvPr/>
        </p:nvSpPr>
        <p:spPr>
          <a:xfrm>
            <a:off x="3376842" y="6231493"/>
            <a:ext cx="1104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825" b="0">
                <a:solidFill>
                  <a:srgbClr val="1E2A39"/>
                </a:solidFill>
                <a:latin typeface="Aptos"/>
                <a:ea typeface="Aptos"/>
                <a:cs typeface="Aptos"/>
              </a:defRPr>
            </a:pPr>
            <a:r>
              <a:rPr lang="en-IN" sz="800" b="0" dirty="0">
                <a:solidFill>
                  <a:srgbClr val="1E2A39"/>
                </a:solidFill>
                <a:latin typeface="Aptos"/>
                <a:ea typeface="Aptos"/>
                <a:cs typeface="Aptos"/>
              </a:rPr>
              <a:t>AI Workflows</a:t>
            </a:r>
            <a:endParaRPr sz="800" b="0" dirty="0">
              <a:solidFill>
                <a:srgbClr val="1E2A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2" name="label-Signature Initiatives">
            <a:extLst>
              <a:ext uri="{FF2B5EF4-FFF2-40B4-BE49-F238E27FC236}">
                <a16:creationId xmlns:a16="http://schemas.microsoft.com/office/drawing/2014/main" id="{3AFD6FB9-FA4F-4EA6-89B1-72892AF3C7B2}"/>
              </a:ext>
            </a:extLst>
          </p:cNvPr>
          <p:cNvSpPr>
            <a:spLocks noGrp="1"/>
          </p:cNvSpPr>
          <p:nvPr/>
        </p:nvSpPr>
        <p:spPr>
          <a:xfrm>
            <a:off x="7996917" y="2841174"/>
            <a:ext cx="3886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21A39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21A39A"/>
                </a:solidFill>
                <a:latin typeface="Aptos"/>
                <a:ea typeface="Aptos"/>
                <a:cs typeface="Aptos"/>
              </a:rPr>
              <a:t>SIGNATURE INITIATIVES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9259D32-F45D-4DA8-A32C-80817E71D3A0}"/>
              </a:ext>
            </a:extLst>
          </p:cNvPr>
          <p:cNvSpPr>
            <a:spLocks noGrp="1"/>
          </p:cNvSpPr>
          <p:nvPr/>
        </p:nvSpPr>
        <p:spPr>
          <a:xfrm>
            <a:off x="8218419" y="3108943"/>
            <a:ext cx="3886200" cy="9525"/>
          </a:xfrm>
          <a:prstGeom prst="rect">
            <a:avLst/>
          </a:prstGeom>
          <a:solidFill>
            <a:srgbClr val="D9E1EA"/>
          </a:solidFill>
          <a:ln w="0">
            <a:noFill/>
            <a:prstDash val="solid"/>
          </a:ln>
        </p:spPr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409F429B-2E0D-444A-903B-BA075C44AB8B}"/>
              </a:ext>
            </a:extLst>
          </p:cNvPr>
          <p:cNvSpPr>
            <a:spLocks noGrp="1"/>
          </p:cNvSpPr>
          <p:nvPr/>
        </p:nvSpPr>
        <p:spPr>
          <a:xfrm>
            <a:off x="8218419" y="3194668"/>
            <a:ext cx="32575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F580B4F8-428E-4BD8-AA1F-410CFD056C06}"/>
              </a:ext>
            </a:extLst>
          </p:cNvPr>
          <p:cNvSpPr>
            <a:spLocks noGrp="1"/>
          </p:cNvSpPr>
          <p:nvPr/>
        </p:nvSpPr>
        <p:spPr>
          <a:xfrm>
            <a:off x="8370819" y="3308968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3243D"/>
          </a:solidFill>
          <a:ln w="0">
            <a:noFill/>
            <a:prstDash val="solid"/>
          </a:ln>
        </p:spPr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BBD59D9-221B-49B8-8639-C2991A6AC507}"/>
              </a:ext>
            </a:extLst>
          </p:cNvPr>
          <p:cNvSpPr>
            <a:spLocks noGrp="1"/>
          </p:cNvSpPr>
          <p:nvPr/>
        </p:nvSpPr>
        <p:spPr>
          <a:xfrm>
            <a:off x="8370819" y="3347068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2FA08F5-B173-4528-90BB-458ACD20B3DE}"/>
              </a:ext>
            </a:extLst>
          </p:cNvPr>
          <p:cNvSpPr>
            <a:spLocks noGrp="1"/>
          </p:cNvSpPr>
          <p:nvPr/>
        </p:nvSpPr>
        <p:spPr>
          <a:xfrm>
            <a:off x="8789919" y="3280393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324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43D"/>
                </a:solidFill>
                <a:latin typeface="Aptos"/>
                <a:ea typeface="Aptos"/>
                <a:cs typeface="Aptos"/>
              </a:rPr>
              <a:t>Global Demand Engine Optimization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B77E845-CB95-489B-B846-CC5D3DC8CE39}"/>
              </a:ext>
            </a:extLst>
          </p:cNvPr>
          <p:cNvSpPr>
            <a:spLocks noGrp="1"/>
          </p:cNvSpPr>
          <p:nvPr/>
        </p:nvSpPr>
        <p:spPr>
          <a:xfrm>
            <a:off x="8789919" y="3480418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825" b="0" dirty="0">
                <a:solidFill>
                  <a:srgbClr val="657487"/>
                </a:solidFill>
                <a:latin typeface="Aptos"/>
                <a:ea typeface="Aptos"/>
                <a:cs typeface="Aptos"/>
              </a:rPr>
              <a:t>Improved pipeline quality and efficiency.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41CDC58D-C108-46DD-98B7-AB6F71822CF7}"/>
              </a:ext>
            </a:extLst>
          </p:cNvPr>
          <p:cNvSpPr>
            <a:spLocks noGrp="1"/>
          </p:cNvSpPr>
          <p:nvPr/>
        </p:nvSpPr>
        <p:spPr>
          <a:xfrm>
            <a:off x="8218419" y="3794743"/>
            <a:ext cx="32575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B6D86A30-87C0-470F-820F-298D330C58D8}"/>
              </a:ext>
            </a:extLst>
          </p:cNvPr>
          <p:cNvSpPr>
            <a:spLocks noGrp="1"/>
          </p:cNvSpPr>
          <p:nvPr/>
        </p:nvSpPr>
        <p:spPr>
          <a:xfrm>
            <a:off x="8370819" y="3909043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3243D"/>
          </a:solidFill>
          <a:ln w="0">
            <a:noFill/>
            <a:prstDash val="solid"/>
          </a:ln>
        </p:spPr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CD5D7EA-2907-451A-ADDC-3800A414138F}"/>
              </a:ext>
            </a:extLst>
          </p:cNvPr>
          <p:cNvSpPr>
            <a:spLocks noGrp="1"/>
          </p:cNvSpPr>
          <p:nvPr/>
        </p:nvSpPr>
        <p:spPr>
          <a:xfrm>
            <a:off x="8370819" y="3947143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0A23C3F-4A5A-493B-9BF7-28F69F16D4B7}"/>
              </a:ext>
            </a:extLst>
          </p:cNvPr>
          <p:cNvSpPr>
            <a:spLocks noGrp="1"/>
          </p:cNvSpPr>
          <p:nvPr/>
        </p:nvSpPr>
        <p:spPr>
          <a:xfrm>
            <a:off x="8789919" y="3880468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3243D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13243D"/>
                </a:solidFill>
                <a:latin typeface="Aptos"/>
                <a:ea typeface="Aptos"/>
                <a:cs typeface="Aptos"/>
              </a:rPr>
              <a:t>B2B SaaS Marketplace</a:t>
            </a:r>
            <a:r>
              <a:rPr lang="en-IN" sz="1050" b="1" dirty="0">
                <a:solidFill>
                  <a:srgbClr val="13243D"/>
                </a:solidFill>
                <a:latin typeface="Aptos"/>
                <a:ea typeface="Aptos"/>
                <a:cs typeface="Aptos"/>
              </a:rPr>
              <a:t> Launch</a:t>
            </a:r>
            <a:endParaRPr sz="1050" b="1" dirty="0">
              <a:solidFill>
                <a:srgbClr val="13243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DB1137C-1080-42C2-AEC6-3E93845CF1BC}"/>
              </a:ext>
            </a:extLst>
          </p:cNvPr>
          <p:cNvSpPr>
            <a:spLocks noGrp="1"/>
          </p:cNvSpPr>
          <p:nvPr/>
        </p:nvSpPr>
        <p:spPr>
          <a:xfrm>
            <a:off x="8789919" y="4080493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lang="en-IN" dirty="0"/>
              <a:t>Accelerated enterprise digital acquisition</a:t>
            </a:r>
            <a:endParaRPr sz="825" b="0" dirty="0">
              <a:solidFill>
                <a:srgbClr val="6574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B0E9C5AA-A739-4C22-B8AC-3DEA7F3D783F}"/>
              </a:ext>
            </a:extLst>
          </p:cNvPr>
          <p:cNvSpPr>
            <a:spLocks noGrp="1"/>
          </p:cNvSpPr>
          <p:nvPr/>
        </p:nvSpPr>
        <p:spPr>
          <a:xfrm>
            <a:off x="8234321" y="4370965"/>
            <a:ext cx="32575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6760870E-3F14-47AA-99C1-EF40C9ADAAEB}"/>
              </a:ext>
            </a:extLst>
          </p:cNvPr>
          <p:cNvSpPr>
            <a:spLocks noGrp="1"/>
          </p:cNvSpPr>
          <p:nvPr/>
        </p:nvSpPr>
        <p:spPr>
          <a:xfrm>
            <a:off x="8346966" y="4469363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3243D"/>
          </a:solidFill>
          <a:ln w="0">
            <a:noFill/>
            <a:prstDash val="solid"/>
          </a:ln>
        </p:spPr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736DD84-479A-4CB2-BC90-D18B6C57B60B}"/>
              </a:ext>
            </a:extLst>
          </p:cNvPr>
          <p:cNvSpPr>
            <a:spLocks noGrp="1"/>
          </p:cNvSpPr>
          <p:nvPr/>
        </p:nvSpPr>
        <p:spPr>
          <a:xfrm>
            <a:off x="8346966" y="4507463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15E696F-98DD-4660-BA97-8E8CF8B86FAC}"/>
              </a:ext>
            </a:extLst>
          </p:cNvPr>
          <p:cNvSpPr>
            <a:spLocks noGrp="1"/>
          </p:cNvSpPr>
          <p:nvPr/>
        </p:nvSpPr>
        <p:spPr>
          <a:xfrm>
            <a:off x="8766066" y="4472592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3243D"/>
                </a:solidFill>
                <a:latin typeface="Aptos"/>
                <a:ea typeface="Aptos"/>
                <a:cs typeface="Aptos"/>
              </a:defRPr>
            </a:pPr>
            <a:r>
              <a:rPr lang="en-IN" dirty="0"/>
              <a:t>AI lead qualification engine</a:t>
            </a:r>
            <a:endParaRPr sz="1050" b="1" dirty="0">
              <a:solidFill>
                <a:srgbClr val="13243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BF98A4E-F04D-48AC-BA32-7E9F31877345}"/>
              </a:ext>
            </a:extLst>
          </p:cNvPr>
          <p:cNvSpPr>
            <a:spLocks noGrp="1"/>
          </p:cNvSpPr>
          <p:nvPr/>
        </p:nvSpPr>
        <p:spPr>
          <a:xfrm>
            <a:off x="8769757" y="4647203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825" b="0" dirty="0">
                <a:solidFill>
                  <a:srgbClr val="657487"/>
                </a:solidFill>
                <a:latin typeface="Aptos"/>
                <a:ea typeface="Aptos"/>
                <a:cs typeface="Aptos"/>
              </a:rPr>
              <a:t>Improved lead prioritization using AI-driven insights.</a:t>
            </a:r>
          </a:p>
        </p:txBody>
      </p:sp>
    </p:spTree>
    <p:extLst>
      <p:ext uri="{BB962C8B-B14F-4D97-AF65-F5344CB8AC3E}">
        <p14:creationId xmlns:p14="http://schemas.microsoft.com/office/powerpoint/2010/main" val="10083525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321</Words>
  <Application>Microsoft Office PowerPoint</Application>
  <DocSecurity>0</DocSecurity>
  <PresentationFormat>Widescreen</PresentationFormat>
  <Paragraphs>81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Lenovo</cp:lastModifiedBy>
  <cp:revision>22</cp:revision>
  <dcterms:created xsi:type="dcterms:W3CDTF">2026-07-30T06:30:21Z</dcterms:created>
  <dcterms:modified xsi:type="dcterms:W3CDTF">2026-07-30T13:48:45Z</dcterms:modified>
</cp:coreProperties>
</file>